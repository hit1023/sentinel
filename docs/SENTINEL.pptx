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90" r:id="rId2"/>
    <p:sldId id="266" r:id="rId3"/>
    <p:sldId id="297" r:id="rId4"/>
    <p:sldId id="301" r:id="rId5"/>
    <p:sldId id="276" r:id="rId6"/>
    <p:sldId id="285" r:id="rId7"/>
    <p:sldId id="304" r:id="rId8"/>
    <p:sldId id="307" r:id="rId9"/>
    <p:sldId id="316" r:id="rId10"/>
    <p:sldId id="312" r:id="rId11"/>
    <p:sldId id="314" r:id="rId12"/>
    <p:sldId id="31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208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88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SENTINELの紹介プレゼン。まずタイトルで世界観を掴んでもらう。次のスライドで「機能よりデザイン」「AIに脅威判定を任せる」の2本柱を説明。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ルールベース検知はどうしても誤検知が多くなる。それを人間が仕分けるのではなくAIに任せる、という設計思想を最初に明言する。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各エージェントがHTTP POSTでserver1上のwebuiにアラート・状態を送る。AIトリアージはagent側からCloudflareへ直接呼び出し、webuiは関与しない点がポイント。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各エージェントがHTTP POSTでserver1上のwebuiにアラート・状態を送る。AIトリアージはagent側からCloudflareへ直接呼び出し、webuiは関与しない点がポイント。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検知ロジック自体はどれもシンプル。次のスライドで、この後段にAIトリアージが挟まる仕組みを説明する。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フェイルセーフ設計がポイント。AIの応答が想定外だった場合は必ず通知を残す側に倒し、静かに見逃すことがないようにしている。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フェイルセーフ設計がポイント。AIの応答が想定外だった場合は必ず通知を残す側に倒し、静かに見逃すことがないようにしている。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実際のダッシュボードを模したイメージ。左が画面イメージ、右がこだわりポイントの箇条書き。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ここは笑い所。ただし「怖い誤検知が出た→原因を特定→設定に反映→即デプロイ」まで数分でできたのは実装がちゃんとしている証拠、という流れで話す。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フェイルセーフ設計がポイント。AIの応答が想定外だった場合は必ず通知を残す側に倒し、静かに見逃すことがないようにしている。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直近対応したSQLite永続化にも触れる。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学習用ツールであることは強調しつつ、実運用に耐えるだけの作り込み（AI判定・SQLite・CI/CD）があることを最後にもう一度印象づける。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60A10"/>
              </a:gs>
              <a:gs pos="55000">
                <a:srgbClr val="0B131C"/>
              </a:gs>
              <a:gs pos="100000">
                <a:srgbClr val="081015"/>
              </a:gs>
            </a:gsLst>
            <a:lin ang="4200000" scaled="0"/>
          </a:gra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12767" y="812767"/>
            <a:ext cx="1088346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3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HIT-LINUX-IDS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767" y="1214024"/>
            <a:ext cx="10883460" cy="12826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900"/>
              </a:lnSpc>
              <a:buNone/>
            </a:pPr>
            <a:r>
              <a:rPr lang="en-US" sz="9000" b="1" kern="0" spc="300" dirty="0">
                <a:solidFill>
                  <a:srgbClr val="EAF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12767" y="2623674"/>
            <a:ext cx="8502650" cy="665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7B909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学習用・マルチホストLinux侵入検知システム — 見た目に本気を出し、判断はAIに任せる。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534" y="5628762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AF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server1 · client1 · mac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534" y="5867466"/>
            <a:ext cx="2354580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multi-host / real-time defense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2767" y="6238296"/>
            <a:ext cx="2260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GitHub: hit1023/sentinel</a:t>
            </a:r>
            <a:endParaRPr lang="en-US" sz="1200" dirty="0"/>
          </a:p>
        </p:txBody>
      </p:sp>
      <p:grpSp>
        <p:nvGrpSpPr>
          <p:cNvPr id="1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101" name="Eye Outline"/>
            <p:cNvSpPr/>
            <p:nvPr/>
          </p:nvSpPr>
          <p:spPr>
            <a:xfrm>
              <a:off x="787400" y="5689600"/>
              <a:ext cx="457200" cy="228600"/>
            </a:xfrm>
            <a:custGeom>
              <a:avLst/>
              <a:gdLst/>
              <a:ahLst/>
              <a:cxnLst/>
              <a:rect l="0" t="0" r="r" b="b"/>
              <a:pathLst>
                <a:path w="457200" h="228600">
                  <a:moveTo>
                    <a:pt x="0" y="114300"/>
                  </a:moveTo>
                  <a:cubicBezTo>
                    <a:pt x="137160" y="-38100"/>
                    <a:pt x="320040" y="-38100"/>
                    <a:pt x="457200" y="114300"/>
                  </a:cubicBezTo>
                  <a:cubicBezTo>
                    <a:pt x="320040" y="266700"/>
                    <a:pt x="137160" y="266700"/>
                    <a:pt x="0" y="114300"/>
                  </a:cubicBezTo>
                  <a:close/>
                </a:path>
              </a:pathLst>
            </a:custGeom>
            <a:noFill/>
            <a:ln w="15875" cap="rnd">
              <a:solidFill>
                <a:srgbClr val="2EE9FF">
                  <a:alpha val="100000"/>
                </a:srgbClr>
              </a:solidFill>
              <a:round/>
            </a:ln>
            <a:effectLst>
              <a:outerShdw blurRad="4572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Eye Iris"/>
            <p:cNvSpPr/>
            <p:nvPr/>
          </p:nvSpPr>
          <p:spPr>
            <a:xfrm>
              <a:off x="945134" y="5733034"/>
              <a:ext cx="141732" cy="141732"/>
            </a:xfrm>
            <a:prstGeom prst="ellipse">
              <a:avLst/>
            </a:prstGeom>
            <a:solidFill>
              <a:srgbClr val="2EE9FF">
                <a:alpha val="12000"/>
              </a:srgbClr>
            </a:solidFill>
            <a:ln w="15875">
              <a:solidFill>
                <a:srgbClr val="2EE9FF">
                  <a:alpha val="100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Eye Pupil"/>
            <p:cNvSpPr/>
            <p:nvPr/>
          </p:nvSpPr>
          <p:spPr>
            <a:xfrm>
              <a:off x="986282" y="5774182"/>
              <a:ext cx="59436" cy="59436"/>
            </a:xfrm>
            <a:prstGeom prst="ellipse">
              <a:avLst/>
            </a:prstGeom>
            <a:solidFill>
              <a:srgbClr val="2EE9FF">
                <a:alpha val="100000"/>
              </a:srgbClr>
            </a:solidFill>
            <a:ln>
              <a:noFill/>
            </a:ln>
            <a:effectLst>
              <a:outerShdw blurRad="5715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cxnSp>
          <p:nvCxnSpPr>
            <p:cNvPr id="204" name="Eye HUD 0"/>
            <p:cNvCxnSpPr/>
            <p:nvPr/>
          </p:nvCxnSpPr>
          <p:spPr>
            <a:xfrm>
              <a:off x="7172960" y="4572000"/>
              <a:ext cx="548640" cy="0"/>
            </a:xfrm>
            <a:prstGeom prst="line">
              <a:avLst/>
            </a:prstGeom>
            <a:ln w="9525">
              <a:solidFill>
                <a:srgbClr val="2EE9FF">
                  <a:alpha val="45000"/>
                </a:srgbClr>
              </a:solidFill>
              <a:prstDash val="dash"/>
            </a:ln>
          </p:spPr>
        </p:cxnSp>
        <p:cxnSp>
          <p:nvCxnSpPr>
            <p:cNvPr id="205" name="Eye HUD 1"/>
            <p:cNvCxnSpPr/>
            <p:nvPr/>
          </p:nvCxnSpPr>
          <p:spPr>
            <a:xfrm>
              <a:off x="11074400" y="4572000"/>
              <a:ext cx="548640" cy="0"/>
            </a:xfrm>
            <a:prstGeom prst="line">
              <a:avLst/>
            </a:prstGeom>
            <a:ln w="9525">
              <a:solidFill>
                <a:srgbClr val="2EE9FF">
                  <a:alpha val="45000"/>
                </a:srgbClr>
              </a:solidFill>
              <a:prstDash val="dash"/>
            </a:ln>
          </p:spPr>
        </p:cxnSp>
        <p:sp>
          <p:nvSpPr>
            <p:cNvPr id="206" name="Eye Scan Ring"/>
            <p:cNvSpPr/>
            <p:nvPr/>
          </p:nvSpPr>
          <p:spPr>
            <a:xfrm>
              <a:off x="8453120" y="3627120"/>
              <a:ext cx="1889760" cy="1889760"/>
            </a:xfrm>
            <a:prstGeom prst="ellipse">
              <a:avLst/>
            </a:prstGeom>
            <a:noFill/>
            <a:ln w="9525">
              <a:solidFill>
                <a:srgbClr val="2EE9FF">
                  <a:alpha val="22000"/>
                </a:srgbClr>
              </a:solidFill>
              <a:prstDash val="sysDot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Eye Outline"/>
            <p:cNvSpPr/>
            <p:nvPr/>
          </p:nvSpPr>
          <p:spPr>
            <a:xfrm>
              <a:off x="7874000" y="3810000"/>
              <a:ext cx="3048000" cy="1524000"/>
            </a:xfrm>
            <a:custGeom>
              <a:avLst/>
              <a:gdLst/>
              <a:ahLst/>
              <a:cxnLst/>
              <a:rect l="0" t="0" r="r" b="b"/>
              <a:pathLst>
                <a:path w="3048000" h="1524000">
                  <a:moveTo>
                    <a:pt x="0" y="762000"/>
                  </a:moveTo>
                  <a:cubicBezTo>
                    <a:pt x="914400" y="-254000"/>
                    <a:pt x="2133600" y="-254000"/>
                    <a:pt x="3048000" y="762000"/>
                  </a:cubicBezTo>
                  <a:cubicBezTo>
                    <a:pt x="2133600" y="1778000"/>
                    <a:pt x="914400" y="1778000"/>
                    <a:pt x="0" y="762000"/>
                  </a:cubicBezTo>
                  <a:close/>
                </a:path>
              </a:pathLst>
            </a:custGeom>
            <a:noFill/>
            <a:ln w="31750" cap="rnd">
              <a:solidFill>
                <a:srgbClr val="2EE9FF">
                  <a:alpha val="100000"/>
                </a:srgbClr>
              </a:solidFill>
              <a:round/>
            </a:ln>
            <a:effectLst>
              <a:outerShdw blurRad="30480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Eye Iris"/>
            <p:cNvSpPr/>
            <p:nvPr/>
          </p:nvSpPr>
          <p:spPr>
            <a:xfrm>
              <a:off x="8925560" y="4099560"/>
              <a:ext cx="944880" cy="944880"/>
            </a:xfrm>
            <a:prstGeom prst="ellipse">
              <a:avLst/>
            </a:prstGeom>
            <a:solidFill>
              <a:srgbClr val="2EE9FF">
                <a:alpha val="12000"/>
              </a:srgbClr>
            </a:solidFill>
            <a:ln w="31750">
              <a:solidFill>
                <a:srgbClr val="2EE9FF">
                  <a:alpha val="100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Eye Pupil"/>
            <p:cNvSpPr/>
            <p:nvPr/>
          </p:nvSpPr>
          <p:spPr>
            <a:xfrm>
              <a:off x="9199880" y="4373880"/>
              <a:ext cx="396240" cy="396240"/>
            </a:xfrm>
            <a:prstGeom prst="ellipse">
              <a:avLst/>
            </a:prstGeom>
            <a:solidFill>
              <a:srgbClr val="2EE9FF">
                <a:alpha val="100000"/>
              </a:srgbClr>
            </a:solidFill>
            <a:ln>
              <a:noFill/>
            </a:ln>
            <a:effectLst>
              <a:outerShdw blurRad="3810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764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7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580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こだわったのは、この2点だけ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15942" y="2041293"/>
            <a:ext cx="5149883" cy="3797531"/>
          </a:xfrm>
          <a:prstGeom prst="roundRect">
            <a:avLst>
              <a:gd name="adj" fmla="val 3930"/>
            </a:avLst>
          </a:prstGeom>
          <a:solidFill>
            <a:srgbClr val="121A24"/>
          </a:solidFill>
          <a:ln w="6350">
            <a:solidFill>
              <a:srgbClr val="1E2B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73592" y="2398943"/>
            <a:ext cx="4567619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73592" y="2721570"/>
            <a:ext cx="4567619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機能よりサイバーなデザイン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73592" y="3183764"/>
            <a:ext cx="4567619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9FB4B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検知ロジックはシンプルなルールベースに留め、瞬きするアイ・ロゴ、パーティクル背景、CRITICALフラッシュなど「見ていて気分が上がる」演出に時間をかけた。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73592" y="5338878"/>
            <a:ext cx="88883" cy="88883"/>
          </a:xfrm>
          <a:prstGeom prst="roundRect">
            <a:avLst>
              <a:gd name="adj" fmla="val 50000"/>
            </a:avLst>
          </a:prstGeom>
          <a:solidFill>
            <a:srgbClr val="2EE9FF"/>
          </a:solidFill>
          <a:ln/>
          <a:effectLst>
            <a:outerShdw blurRad="76200" dir="60000" algn="bl" rotWithShape="0">
              <a:srgbClr val="2EE9FF">
                <a:alpha val="10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338626" y="5285548"/>
            <a:ext cx="122431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webui/static/*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26175" y="2041293"/>
            <a:ext cx="5149883" cy="3797531"/>
          </a:xfrm>
          <a:prstGeom prst="roundRect">
            <a:avLst>
              <a:gd name="adj" fmla="val 3930"/>
            </a:avLst>
          </a:prstGeom>
          <a:solidFill>
            <a:srgbClr val="121A24"/>
          </a:solidFill>
          <a:ln w="6350">
            <a:solidFill>
              <a:srgbClr val="1E2B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583825" y="2398943"/>
            <a:ext cx="4567619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825" y="2721570"/>
            <a:ext cx="4567619" cy="360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AIに脅威判定を任せる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825" y="3183764"/>
            <a:ext cx="4567619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9FB4B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Cloudflare AI Gateway(Workers AI)がCRITICAL/WARNINGを判定。非脅威と判断したものは自動でINFOへ格下げし、目立たなくする。「限りなくAIにお任せ」の運用思想。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825" y="5338878"/>
            <a:ext cx="88883" cy="88883"/>
          </a:xfrm>
          <a:prstGeom prst="roundRect">
            <a:avLst>
              <a:gd name="adj" fmla="val 50000"/>
            </a:avLst>
          </a:prstGeom>
          <a:solidFill>
            <a:srgbClr val="FF3D81"/>
          </a:solidFill>
          <a:ln/>
          <a:effectLst>
            <a:outerShdw blurRad="76200" dir="60000" algn="bl" rotWithShape="0">
              <a:srgbClr val="FF3D81">
                <a:alpha val="10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748859" y="5285548"/>
            <a:ext cx="1813030" cy="221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FF3D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Cloudflare Workers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02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59949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マネージャー / エージェント構成</a:t>
            </a:r>
            <a:endParaRPr lang="en-US" sz="3200" dirty="0"/>
          </a:p>
        </p:txBody>
      </p:sp>
      <p:sp>
        <p:nvSpPr>
          <p:cNvPr id="500" name="HUD"/>
          <p:cNvSpPr/>
          <p:nvPr/>
        </p:nvSpPr>
        <p:spPr>
          <a:xfrm>
            <a:off x="812800" y="1778000"/>
            <a:ext cx="10566400" cy="4191000"/>
          </a:xfrm>
          <a:prstGeom prst="rect">
            <a:avLst/>
          </a:prstGeom>
          <a:pattFill prst="dotGrid">
            <a:fgClr>
              <a:srgbClr val="1C2A36"/>
            </a:fgClr>
            <a:bgClr>
              <a:srgbClr val="0B131C"/>
            </a:bgClr>
          </a:pattFill>
          <a:ln w="6350">
            <a:solidFill>
              <a:srgbClr val="1A273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1" name="HUD"/>
          <p:cNvSpPr/>
          <p:nvPr/>
        </p:nvSpPr>
        <p:spPr>
          <a:xfrm>
            <a:off x="812800" y="1778000"/>
            <a:ext cx="10566400" cy="4191000"/>
          </a:xfrm>
          <a:custGeom>
            <a:avLst/>
            <a:gdLst/>
            <a:ahLst/>
            <a:cxnLst/>
            <a:rect l="0" t="0" r="r" b="b"/>
            <a:pathLst>
              <a:path w="10566400" h="4191000" fill="none">
                <a:moveTo>
                  <a:pt x="0" y="177800"/>
                </a:moveTo>
                <a:lnTo>
                  <a:pt x="0" y="0"/>
                </a:lnTo>
                <a:lnTo>
                  <a:pt x="177800" y="0"/>
                </a:lnTo>
                <a:moveTo>
                  <a:pt x="10388600" y="0"/>
                </a:moveTo>
                <a:lnTo>
                  <a:pt x="10566400" y="0"/>
                </a:lnTo>
                <a:lnTo>
                  <a:pt x="10566400" y="177800"/>
                </a:lnTo>
                <a:moveTo>
                  <a:pt x="10566400" y="4013200"/>
                </a:moveTo>
                <a:lnTo>
                  <a:pt x="10566400" y="4191000"/>
                </a:lnTo>
                <a:lnTo>
                  <a:pt x="10388600" y="4191000"/>
                </a:lnTo>
                <a:moveTo>
                  <a:pt x="177800" y="4191000"/>
                </a:moveTo>
                <a:lnTo>
                  <a:pt x="0" y="4191000"/>
                </a:lnTo>
                <a:lnTo>
                  <a:pt x="0" y="4013200"/>
                </a:lnTo>
              </a:path>
            </a:pathLst>
          </a:custGeom>
          <a:noFill/>
          <a:ln w="1270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2" name="HUD Text"/>
          <p:cNvSpPr txBox="1"/>
          <p:nvPr/>
        </p:nvSpPr>
        <p:spPr>
          <a:xfrm>
            <a:off x="10668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CLOUD</a:t>
            </a:r>
          </a:p>
        </p:txBody>
      </p:sp>
      <p:sp>
        <p:nvSpPr>
          <p:cNvPr id="503" name="HUD Text"/>
          <p:cNvSpPr txBox="1"/>
          <p:nvPr/>
        </p:nvSpPr>
        <p:spPr>
          <a:xfrm>
            <a:off x="44450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HOSTS · agent</a:t>
            </a:r>
          </a:p>
        </p:txBody>
      </p:sp>
      <p:sp>
        <p:nvSpPr>
          <p:cNvPr id="504" name="HUD Text"/>
          <p:cNvSpPr txBox="1"/>
          <p:nvPr/>
        </p:nvSpPr>
        <p:spPr>
          <a:xfrm>
            <a:off x="83820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MANAGER</a:t>
            </a:r>
          </a:p>
        </p:txBody>
      </p:sp>
      <p:sp>
        <p:nvSpPr>
          <p:cNvPr id="505" name="HUD"/>
          <p:cNvSpPr/>
          <p:nvPr/>
        </p:nvSpPr>
        <p:spPr>
          <a:xfrm>
            <a:off x="1066800" y="2870200"/>
            <a:ext cx="2235200" cy="16256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60000"/>
              </a:srgbClr>
            </a:solidFill>
          </a:ln>
          <a:effectLst>
            <a:glow rad="127000">
              <a:srgbClr val="FF3D81">
                <a:alpha val="28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06" name="HUD"/>
          <p:cNvSpPr/>
          <p:nvPr/>
        </p:nvSpPr>
        <p:spPr>
          <a:xfrm>
            <a:off x="1041400" y="2844800"/>
            <a:ext cx="2286000" cy="1676400"/>
          </a:xfrm>
          <a:custGeom>
            <a:avLst/>
            <a:gdLst/>
            <a:ahLst/>
            <a:cxnLst/>
            <a:rect l="0" t="0" r="r" b="b"/>
            <a:pathLst>
              <a:path w="2286000" h="16764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184400" y="0"/>
                </a:moveTo>
                <a:lnTo>
                  <a:pt x="2286000" y="0"/>
                </a:lnTo>
                <a:lnTo>
                  <a:pt x="2286000" y="101600"/>
                </a:lnTo>
                <a:moveTo>
                  <a:pt x="2286000" y="1574800"/>
                </a:moveTo>
                <a:lnTo>
                  <a:pt x="2286000" y="1676400"/>
                </a:lnTo>
                <a:lnTo>
                  <a:pt x="2184400" y="1676400"/>
                </a:lnTo>
                <a:moveTo>
                  <a:pt x="101600" y="1676400"/>
                </a:moveTo>
                <a:lnTo>
                  <a:pt x="0" y="1676400"/>
                </a:lnTo>
                <a:lnTo>
                  <a:pt x="0" y="15748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7" name="HUD Text"/>
          <p:cNvSpPr txBox="1"/>
          <p:nvPr/>
        </p:nvSpPr>
        <p:spPr>
          <a:xfrm>
            <a:off x="1244600" y="3009900"/>
            <a:ext cx="17272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EDGE · AI</a:t>
            </a:r>
          </a:p>
        </p:txBody>
      </p:sp>
      <p:sp>
        <p:nvSpPr>
          <p:cNvPr id="508" name="HUD"/>
          <p:cNvSpPr/>
          <p:nvPr/>
        </p:nvSpPr>
        <p:spPr>
          <a:xfrm>
            <a:off x="3079750" y="30543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09" name="HUD Text"/>
          <p:cNvSpPr txBox="1"/>
          <p:nvPr/>
        </p:nvSpPr>
        <p:spPr>
          <a:xfrm>
            <a:off x="1244600" y="3225800"/>
            <a:ext cx="1879600" cy="1193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FF3D81"/>
                </a:solidFill>
                <a:latin typeface="Rubik"/>
                <a:ea typeface="Rubik"/>
                <a:cs typeface="Rubik"/>
              </a:rPr>
              <a:t>Cloudflare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AI Gateway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→ Workers AI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脅威判定 + コメント</a:t>
            </a:r>
          </a:p>
        </p:txBody>
      </p:sp>
      <p:sp>
        <p:nvSpPr>
          <p:cNvPr id="510" name="HUD"/>
          <p:cNvSpPr/>
          <p:nvPr/>
        </p:nvSpPr>
        <p:spPr>
          <a:xfrm>
            <a:off x="4445000" y="2209800"/>
            <a:ext cx="2540000" cy="9144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1" name="HUD"/>
          <p:cNvSpPr/>
          <p:nvPr/>
        </p:nvSpPr>
        <p:spPr>
          <a:xfrm>
            <a:off x="4419600" y="2184400"/>
            <a:ext cx="2590800" cy="965200"/>
          </a:xfrm>
          <a:custGeom>
            <a:avLst/>
            <a:gdLst/>
            <a:ahLst/>
            <a:cxnLst/>
            <a:rect l="0" t="0" r="r" b="b"/>
            <a:pathLst>
              <a:path w="2590800" h="9652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89200" y="0"/>
                </a:moveTo>
                <a:lnTo>
                  <a:pt x="2590800" y="0"/>
                </a:lnTo>
                <a:lnTo>
                  <a:pt x="2590800" y="101600"/>
                </a:lnTo>
                <a:moveTo>
                  <a:pt x="2590800" y="863600"/>
                </a:moveTo>
                <a:lnTo>
                  <a:pt x="2590800" y="965200"/>
                </a:lnTo>
                <a:lnTo>
                  <a:pt x="2489200" y="965200"/>
                </a:lnTo>
                <a:moveTo>
                  <a:pt x="101600" y="965200"/>
                </a:moveTo>
                <a:lnTo>
                  <a:pt x="0" y="965200"/>
                </a:lnTo>
                <a:lnTo>
                  <a:pt x="0" y="8636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2" name="HUD Text"/>
          <p:cNvSpPr txBox="1"/>
          <p:nvPr/>
        </p:nvSpPr>
        <p:spPr>
          <a:xfrm>
            <a:off x="4622800" y="23495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AGENT_01</a:t>
            </a:r>
          </a:p>
        </p:txBody>
      </p:sp>
      <p:sp>
        <p:nvSpPr>
          <p:cNvPr id="513" name="HUD"/>
          <p:cNvSpPr/>
          <p:nvPr/>
        </p:nvSpPr>
        <p:spPr>
          <a:xfrm>
            <a:off x="6762750" y="23939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4" name="HUD Text"/>
          <p:cNvSpPr txBox="1"/>
          <p:nvPr/>
        </p:nvSpPr>
        <p:spPr>
          <a:xfrm>
            <a:off x="4622800" y="2565400"/>
            <a:ext cx="21844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server1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auth · integrity · procnet</a:t>
            </a:r>
          </a:p>
        </p:txBody>
      </p:sp>
      <p:sp>
        <p:nvSpPr>
          <p:cNvPr id="515" name="HUD"/>
          <p:cNvSpPr/>
          <p:nvPr/>
        </p:nvSpPr>
        <p:spPr>
          <a:xfrm>
            <a:off x="4445000" y="3454400"/>
            <a:ext cx="2540000" cy="9144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6" name="HUD"/>
          <p:cNvSpPr/>
          <p:nvPr/>
        </p:nvSpPr>
        <p:spPr>
          <a:xfrm>
            <a:off x="4419600" y="3429000"/>
            <a:ext cx="2590800" cy="965200"/>
          </a:xfrm>
          <a:custGeom>
            <a:avLst/>
            <a:gdLst/>
            <a:ahLst/>
            <a:cxnLst/>
            <a:rect l="0" t="0" r="r" b="b"/>
            <a:pathLst>
              <a:path w="2590800" h="9652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89200" y="0"/>
                </a:moveTo>
                <a:lnTo>
                  <a:pt x="2590800" y="0"/>
                </a:lnTo>
                <a:lnTo>
                  <a:pt x="2590800" y="101600"/>
                </a:lnTo>
                <a:moveTo>
                  <a:pt x="2590800" y="863600"/>
                </a:moveTo>
                <a:lnTo>
                  <a:pt x="2590800" y="965200"/>
                </a:lnTo>
                <a:lnTo>
                  <a:pt x="2489200" y="965200"/>
                </a:lnTo>
                <a:moveTo>
                  <a:pt x="101600" y="965200"/>
                </a:moveTo>
                <a:lnTo>
                  <a:pt x="0" y="965200"/>
                </a:lnTo>
                <a:lnTo>
                  <a:pt x="0" y="8636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7" name="HUD Text"/>
          <p:cNvSpPr txBox="1"/>
          <p:nvPr/>
        </p:nvSpPr>
        <p:spPr>
          <a:xfrm>
            <a:off x="4622800" y="35941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AGENT_02</a:t>
            </a:r>
          </a:p>
        </p:txBody>
      </p:sp>
      <p:sp>
        <p:nvSpPr>
          <p:cNvPr id="518" name="HUD"/>
          <p:cNvSpPr/>
          <p:nvPr/>
        </p:nvSpPr>
        <p:spPr>
          <a:xfrm>
            <a:off x="6762750" y="36385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9" name="HUD Text"/>
          <p:cNvSpPr txBox="1"/>
          <p:nvPr/>
        </p:nvSpPr>
        <p:spPr>
          <a:xfrm>
            <a:off x="4622800" y="3810000"/>
            <a:ext cx="21844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client1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auth · integrity · procnet</a:t>
            </a:r>
          </a:p>
        </p:txBody>
      </p:sp>
      <p:sp>
        <p:nvSpPr>
          <p:cNvPr id="520" name="HUD"/>
          <p:cNvSpPr/>
          <p:nvPr/>
        </p:nvSpPr>
        <p:spPr>
          <a:xfrm>
            <a:off x="4445000" y="4699000"/>
            <a:ext cx="2540000" cy="9144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1" name="HUD"/>
          <p:cNvSpPr/>
          <p:nvPr/>
        </p:nvSpPr>
        <p:spPr>
          <a:xfrm>
            <a:off x="4419600" y="4673600"/>
            <a:ext cx="2590800" cy="965200"/>
          </a:xfrm>
          <a:custGeom>
            <a:avLst/>
            <a:gdLst/>
            <a:ahLst/>
            <a:cxnLst/>
            <a:rect l="0" t="0" r="r" b="b"/>
            <a:pathLst>
              <a:path w="2590800" h="9652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89200" y="0"/>
                </a:moveTo>
                <a:lnTo>
                  <a:pt x="2590800" y="0"/>
                </a:lnTo>
                <a:lnTo>
                  <a:pt x="2590800" y="101600"/>
                </a:lnTo>
                <a:moveTo>
                  <a:pt x="2590800" y="863600"/>
                </a:moveTo>
                <a:lnTo>
                  <a:pt x="2590800" y="965200"/>
                </a:lnTo>
                <a:lnTo>
                  <a:pt x="2489200" y="965200"/>
                </a:lnTo>
                <a:moveTo>
                  <a:pt x="101600" y="965200"/>
                </a:moveTo>
                <a:lnTo>
                  <a:pt x="0" y="965200"/>
                </a:lnTo>
                <a:lnTo>
                  <a:pt x="0" y="8636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2" name="HUD Text"/>
          <p:cNvSpPr txBox="1"/>
          <p:nvPr/>
        </p:nvSpPr>
        <p:spPr>
          <a:xfrm>
            <a:off x="4622800" y="48387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AGENT_03</a:t>
            </a:r>
          </a:p>
        </p:txBody>
      </p:sp>
      <p:sp>
        <p:nvSpPr>
          <p:cNvPr id="523" name="HUD"/>
          <p:cNvSpPr/>
          <p:nvPr/>
        </p:nvSpPr>
        <p:spPr>
          <a:xfrm>
            <a:off x="6762750" y="48831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4" name="HUD Text"/>
          <p:cNvSpPr txBox="1"/>
          <p:nvPr/>
        </p:nvSpPr>
        <p:spPr>
          <a:xfrm>
            <a:off x="4622800" y="5054600"/>
            <a:ext cx="21844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mac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auth · integrity · procnet</a:t>
            </a:r>
          </a:p>
        </p:txBody>
      </p:sp>
      <p:sp>
        <p:nvSpPr>
          <p:cNvPr id="525" name="HUD"/>
          <p:cNvSpPr/>
          <p:nvPr/>
        </p:nvSpPr>
        <p:spPr>
          <a:xfrm>
            <a:off x="4038600" y="2667000"/>
            <a:ext cx="406400" cy="1270"/>
          </a:xfrm>
          <a:custGeom>
            <a:avLst/>
            <a:gdLst/>
            <a:ahLst/>
            <a:cxnLst/>
            <a:rect l="0" t="0" r="r" b="b"/>
            <a:pathLst>
              <a:path w="406400" h="1270" fill="none">
                <a:moveTo>
                  <a:pt x="4064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6" name="HUD"/>
          <p:cNvSpPr/>
          <p:nvPr/>
        </p:nvSpPr>
        <p:spPr>
          <a:xfrm>
            <a:off x="4038600" y="3911600"/>
            <a:ext cx="406400" cy="1270"/>
          </a:xfrm>
          <a:custGeom>
            <a:avLst/>
            <a:gdLst/>
            <a:ahLst/>
            <a:cxnLst/>
            <a:rect l="0" t="0" r="r" b="b"/>
            <a:pathLst>
              <a:path w="406400" h="1270" fill="none">
                <a:moveTo>
                  <a:pt x="4064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7" name="HUD"/>
          <p:cNvSpPr/>
          <p:nvPr/>
        </p:nvSpPr>
        <p:spPr>
          <a:xfrm>
            <a:off x="4038600" y="5156200"/>
            <a:ext cx="406400" cy="1270"/>
          </a:xfrm>
          <a:custGeom>
            <a:avLst/>
            <a:gdLst/>
            <a:ahLst/>
            <a:cxnLst/>
            <a:rect l="0" t="0" r="r" b="b"/>
            <a:pathLst>
              <a:path w="406400" h="1270" fill="none">
                <a:moveTo>
                  <a:pt x="4064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8" name="HUD"/>
          <p:cNvSpPr/>
          <p:nvPr/>
        </p:nvSpPr>
        <p:spPr>
          <a:xfrm>
            <a:off x="4038600" y="2667000"/>
            <a:ext cx="1270" cy="2489200"/>
          </a:xfrm>
          <a:custGeom>
            <a:avLst/>
            <a:gdLst/>
            <a:ahLst/>
            <a:cxnLst/>
            <a:rect l="0" t="0" r="r" b="b"/>
            <a:pathLst>
              <a:path w="1270" h="2489200" fill="none">
                <a:moveTo>
                  <a:pt x="0" y="0"/>
                </a:moveTo>
                <a:lnTo>
                  <a:pt x="0" y="2489200"/>
                </a:lnTo>
              </a:path>
            </a:pathLst>
          </a:custGeom>
          <a:noFill/>
          <a:ln w="15875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9" name="HUD"/>
          <p:cNvSpPr/>
          <p:nvPr/>
        </p:nvSpPr>
        <p:spPr>
          <a:xfrm>
            <a:off x="3302000" y="3683000"/>
            <a:ext cx="736600" cy="1270"/>
          </a:xfrm>
          <a:custGeom>
            <a:avLst/>
            <a:gdLst/>
            <a:ahLst/>
            <a:cxnLst/>
            <a:rect l="0" t="0" r="r" b="b"/>
            <a:pathLst>
              <a:path w="736600" h="1270" fill="none">
                <a:moveTo>
                  <a:pt x="7366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3D81"/>
            </a:solidFill>
            <a:tailEnd type="triangle" w="med" len="med"/>
          </a:ln>
          <a:effectLst>
            <a:glow rad="38100">
              <a:srgbClr val="FF3D81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0" name="HUD"/>
          <p:cNvSpPr/>
          <p:nvPr/>
        </p:nvSpPr>
        <p:spPr>
          <a:xfrm>
            <a:off x="4006850" y="36512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1" name="HUD"/>
          <p:cNvSpPr/>
          <p:nvPr/>
        </p:nvSpPr>
        <p:spPr>
          <a:xfrm>
            <a:off x="3324860" y="3378200"/>
            <a:ext cx="69088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FF3D81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2" name="HUD Text"/>
          <p:cNvSpPr txBox="1"/>
          <p:nvPr/>
        </p:nvSpPr>
        <p:spPr>
          <a:xfrm>
            <a:off x="3324860" y="3378200"/>
            <a:ext cx="69088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TRIAGE</a:t>
            </a:r>
          </a:p>
        </p:txBody>
      </p:sp>
      <p:sp>
        <p:nvSpPr>
          <p:cNvPr id="533" name="HUD"/>
          <p:cNvSpPr/>
          <p:nvPr/>
        </p:nvSpPr>
        <p:spPr>
          <a:xfrm>
            <a:off x="6985000" y="2667000"/>
            <a:ext cx="609600" cy="1270"/>
          </a:xfrm>
          <a:custGeom>
            <a:avLst/>
            <a:gdLst/>
            <a:ahLst/>
            <a:cxnLst/>
            <a:rect l="0" t="0" r="r" b="b"/>
            <a:pathLst>
              <a:path w="609600" h="1270" fill="none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8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4" name="HUD"/>
          <p:cNvSpPr/>
          <p:nvPr/>
        </p:nvSpPr>
        <p:spPr>
          <a:xfrm>
            <a:off x="6985000" y="3911600"/>
            <a:ext cx="609600" cy="1270"/>
          </a:xfrm>
          <a:custGeom>
            <a:avLst/>
            <a:gdLst/>
            <a:ahLst/>
            <a:cxnLst/>
            <a:rect l="0" t="0" r="r" b="b"/>
            <a:pathLst>
              <a:path w="609600" h="1270" fill="none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8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5" name="HUD"/>
          <p:cNvSpPr/>
          <p:nvPr/>
        </p:nvSpPr>
        <p:spPr>
          <a:xfrm>
            <a:off x="6985000" y="5156200"/>
            <a:ext cx="609600" cy="1270"/>
          </a:xfrm>
          <a:custGeom>
            <a:avLst/>
            <a:gdLst/>
            <a:ahLst/>
            <a:cxnLst/>
            <a:rect l="0" t="0" r="r" b="b"/>
            <a:pathLst>
              <a:path w="609600" h="1270" fill="none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158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6" name="HUD"/>
          <p:cNvSpPr/>
          <p:nvPr/>
        </p:nvSpPr>
        <p:spPr>
          <a:xfrm>
            <a:off x="7594600" y="2667000"/>
            <a:ext cx="1270" cy="2489200"/>
          </a:xfrm>
          <a:custGeom>
            <a:avLst/>
            <a:gdLst/>
            <a:ahLst/>
            <a:cxnLst/>
            <a:rect l="0" t="0" r="r" b="b"/>
            <a:pathLst>
              <a:path w="1270" h="2489200" fill="none">
                <a:moveTo>
                  <a:pt x="0" y="0"/>
                </a:moveTo>
                <a:lnTo>
                  <a:pt x="0" y="2489200"/>
                </a:lnTo>
              </a:path>
            </a:pathLst>
          </a:custGeom>
          <a:noFill/>
          <a:ln w="158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7" name="HUD"/>
          <p:cNvSpPr/>
          <p:nvPr/>
        </p:nvSpPr>
        <p:spPr>
          <a:xfrm>
            <a:off x="7594600" y="3048000"/>
            <a:ext cx="787400" cy="1270"/>
          </a:xfrm>
          <a:custGeom>
            <a:avLst/>
            <a:gdLst/>
            <a:ahLst/>
            <a:cxnLst/>
            <a:rect l="0" t="0" r="r" b="b"/>
            <a:pathLst>
              <a:path w="787400" h="1270" fill="none">
                <a:moveTo>
                  <a:pt x="0" y="0"/>
                </a:moveTo>
                <a:lnTo>
                  <a:pt x="7874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  <a:effectLst>
            <a:glow rad="38100">
              <a:srgbClr val="2EE9FF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8" name="HUD"/>
          <p:cNvSpPr/>
          <p:nvPr/>
        </p:nvSpPr>
        <p:spPr>
          <a:xfrm>
            <a:off x="7562850" y="30162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9" name="HUD"/>
          <p:cNvSpPr/>
          <p:nvPr/>
        </p:nvSpPr>
        <p:spPr>
          <a:xfrm>
            <a:off x="7724140" y="2743200"/>
            <a:ext cx="52832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2EE9FF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40" name="HUD Text"/>
          <p:cNvSpPr txBox="1"/>
          <p:nvPr/>
        </p:nvSpPr>
        <p:spPr>
          <a:xfrm>
            <a:off x="7724140" y="2743200"/>
            <a:ext cx="52832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PUSH</a:t>
            </a:r>
          </a:p>
        </p:txBody>
      </p:sp>
      <p:sp>
        <p:nvSpPr>
          <p:cNvPr id="541" name="HUD"/>
          <p:cNvSpPr/>
          <p:nvPr/>
        </p:nvSpPr>
        <p:spPr>
          <a:xfrm>
            <a:off x="8382000" y="2209800"/>
            <a:ext cx="2743200" cy="16764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60000"/>
              </a:srgbClr>
            </a:solidFill>
          </a:ln>
          <a:effectLst>
            <a:glow rad="127000">
              <a:srgbClr val="2EE9FF">
                <a:alpha val="28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42" name="HUD"/>
          <p:cNvSpPr/>
          <p:nvPr/>
        </p:nvSpPr>
        <p:spPr>
          <a:xfrm>
            <a:off x="8356600" y="2184400"/>
            <a:ext cx="2794000" cy="1727200"/>
          </a:xfrm>
          <a:custGeom>
            <a:avLst/>
            <a:gdLst/>
            <a:ahLst/>
            <a:cxnLst/>
            <a:rect l="0" t="0" r="r" b="b"/>
            <a:pathLst>
              <a:path w="2794000" h="17272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692400" y="0"/>
                </a:moveTo>
                <a:lnTo>
                  <a:pt x="2794000" y="0"/>
                </a:lnTo>
                <a:lnTo>
                  <a:pt x="2794000" y="101600"/>
                </a:lnTo>
                <a:moveTo>
                  <a:pt x="2794000" y="1625600"/>
                </a:moveTo>
                <a:lnTo>
                  <a:pt x="2794000" y="1727200"/>
                </a:lnTo>
                <a:lnTo>
                  <a:pt x="2692400" y="1727200"/>
                </a:lnTo>
                <a:moveTo>
                  <a:pt x="101600" y="1727200"/>
                </a:moveTo>
                <a:lnTo>
                  <a:pt x="0" y="1727200"/>
                </a:lnTo>
                <a:lnTo>
                  <a:pt x="0" y="16256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43" name="HUD Text"/>
          <p:cNvSpPr txBox="1"/>
          <p:nvPr/>
        </p:nvSpPr>
        <p:spPr>
          <a:xfrm>
            <a:off x="8559800" y="2349500"/>
            <a:ext cx="22352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MANAGER · server1</a:t>
            </a:r>
          </a:p>
        </p:txBody>
      </p:sp>
      <p:sp>
        <p:nvSpPr>
          <p:cNvPr id="544" name="HUD"/>
          <p:cNvSpPr/>
          <p:nvPr/>
        </p:nvSpPr>
        <p:spPr>
          <a:xfrm>
            <a:off x="10902950" y="23939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45" name="HUD Text"/>
          <p:cNvSpPr txBox="1"/>
          <p:nvPr/>
        </p:nvSpPr>
        <p:spPr>
          <a:xfrm>
            <a:off x="8559800" y="2565400"/>
            <a:ext cx="2387600" cy="1244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webui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FastAPI + WebSocket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alerts.jsonl / SQLite</a:t>
            </a:r>
          </a:p>
        </p:txBody>
      </p:sp>
      <p:sp>
        <p:nvSpPr>
          <p:cNvPr id="546" name="HUD"/>
          <p:cNvSpPr/>
          <p:nvPr/>
        </p:nvSpPr>
        <p:spPr>
          <a:xfrm>
            <a:off x="9753600" y="3886200"/>
            <a:ext cx="1270" cy="762000"/>
          </a:xfrm>
          <a:custGeom>
            <a:avLst/>
            <a:gdLst/>
            <a:ahLst/>
            <a:cxnLst/>
            <a:rect l="0" t="0" r="r" b="b"/>
            <a:pathLst>
              <a:path w="1270" h="762000" fill="none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/>
          <a:ln w="15875">
            <a:solidFill>
              <a:srgbClr val="2EE9FF"/>
            </a:solidFill>
            <a:prstDash val="dash"/>
            <a:tailEnd type="triangle" w="med" len="med"/>
          </a:ln>
        </p:spPr>
        <p:txBody>
          <a:bodyPr/>
          <a:lstStyle/>
          <a:p>
            <a:endParaRPr lang="ja-JP"/>
          </a:p>
        </p:txBody>
      </p:sp>
      <p:sp>
        <p:nvSpPr>
          <p:cNvPr id="547" name="HUD"/>
          <p:cNvSpPr/>
          <p:nvPr/>
        </p:nvSpPr>
        <p:spPr>
          <a:xfrm>
            <a:off x="9977120" y="4165600"/>
            <a:ext cx="36576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2EE9FF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48" name="HUD Text"/>
          <p:cNvSpPr txBox="1"/>
          <p:nvPr/>
        </p:nvSpPr>
        <p:spPr>
          <a:xfrm>
            <a:off x="9977120" y="4165600"/>
            <a:ext cx="36576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WS</a:t>
            </a:r>
          </a:p>
        </p:txBody>
      </p:sp>
      <p:sp>
        <p:nvSpPr>
          <p:cNvPr id="549" name="HUD"/>
          <p:cNvSpPr/>
          <p:nvPr/>
        </p:nvSpPr>
        <p:spPr>
          <a:xfrm>
            <a:off x="8382000" y="4648200"/>
            <a:ext cx="2743200" cy="9652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50" name="HUD"/>
          <p:cNvSpPr/>
          <p:nvPr/>
        </p:nvSpPr>
        <p:spPr>
          <a:xfrm>
            <a:off x="8356600" y="4622800"/>
            <a:ext cx="2794000" cy="1016000"/>
          </a:xfrm>
          <a:custGeom>
            <a:avLst/>
            <a:gdLst/>
            <a:ahLst/>
            <a:cxnLst/>
            <a:rect l="0" t="0" r="r" b="b"/>
            <a:pathLst>
              <a:path w="2794000" h="10160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692400" y="0"/>
                </a:moveTo>
                <a:lnTo>
                  <a:pt x="2794000" y="0"/>
                </a:lnTo>
                <a:lnTo>
                  <a:pt x="2794000" y="101600"/>
                </a:lnTo>
                <a:moveTo>
                  <a:pt x="2794000" y="914400"/>
                </a:moveTo>
                <a:lnTo>
                  <a:pt x="2794000" y="1016000"/>
                </a:lnTo>
                <a:lnTo>
                  <a:pt x="2692400" y="1016000"/>
                </a:lnTo>
                <a:moveTo>
                  <a:pt x="101600" y="1016000"/>
                </a:moveTo>
                <a:lnTo>
                  <a:pt x="0" y="1016000"/>
                </a:lnTo>
                <a:lnTo>
                  <a:pt x="0" y="9144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51" name="HUD Text"/>
          <p:cNvSpPr txBox="1"/>
          <p:nvPr/>
        </p:nvSpPr>
        <p:spPr>
          <a:xfrm>
            <a:off x="8559800" y="4800600"/>
            <a:ext cx="2387600" cy="736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ブラウザ :8877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リアルタイム ダッシュボード</a:t>
            </a:r>
          </a:p>
        </p:txBody>
      </p:sp>
      <p:sp>
        <p:nvSpPr>
          <p:cNvPr id="552" name="HUD Text"/>
          <p:cNvSpPr txBox="1"/>
          <p:nvPr/>
        </p:nvSpPr>
        <p:spPr>
          <a:xfrm>
            <a:off x="1066800" y="4699000"/>
            <a:ext cx="26670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AI判定は各agentが直接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呼び出す（webuiは非関与）</a:t>
            </a:r>
          </a:p>
        </p:txBody>
      </p:sp>
      <p:sp>
        <p:nvSpPr>
          <p:cNvPr id="30" name="Text 23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03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7356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GATEWAY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 Gateway 経由の脅威判定フロー</a:t>
            </a:r>
            <a:endParaRPr lang="en-US" sz="3200" dirty="0"/>
          </a:p>
        </p:txBody>
      </p:sp>
      <p:sp>
        <p:nvSpPr>
          <p:cNvPr id="500" name="HUD"/>
          <p:cNvSpPr/>
          <p:nvPr/>
        </p:nvSpPr>
        <p:spPr>
          <a:xfrm>
            <a:off x="812800" y="1778000"/>
            <a:ext cx="10566400" cy="4191000"/>
          </a:xfrm>
          <a:prstGeom prst="rect">
            <a:avLst/>
          </a:prstGeom>
          <a:pattFill prst="dotGrid">
            <a:fgClr>
              <a:srgbClr val="1C2A36"/>
            </a:fgClr>
            <a:bgClr>
              <a:srgbClr val="0B131C"/>
            </a:bgClr>
          </a:pattFill>
          <a:ln w="6350">
            <a:solidFill>
              <a:srgbClr val="1A273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1" name="HUD"/>
          <p:cNvSpPr/>
          <p:nvPr/>
        </p:nvSpPr>
        <p:spPr>
          <a:xfrm>
            <a:off x="812800" y="1778000"/>
            <a:ext cx="10566400" cy="4191000"/>
          </a:xfrm>
          <a:custGeom>
            <a:avLst/>
            <a:gdLst/>
            <a:ahLst/>
            <a:cxnLst/>
            <a:rect l="0" t="0" r="r" b="b"/>
            <a:pathLst>
              <a:path w="10566400" h="4191000" fill="none">
                <a:moveTo>
                  <a:pt x="0" y="177800"/>
                </a:moveTo>
                <a:lnTo>
                  <a:pt x="0" y="0"/>
                </a:lnTo>
                <a:lnTo>
                  <a:pt x="177800" y="0"/>
                </a:lnTo>
                <a:moveTo>
                  <a:pt x="10388600" y="0"/>
                </a:moveTo>
                <a:lnTo>
                  <a:pt x="10566400" y="0"/>
                </a:lnTo>
                <a:lnTo>
                  <a:pt x="10566400" y="177800"/>
                </a:lnTo>
                <a:moveTo>
                  <a:pt x="10566400" y="4013200"/>
                </a:moveTo>
                <a:lnTo>
                  <a:pt x="10566400" y="4191000"/>
                </a:lnTo>
                <a:lnTo>
                  <a:pt x="10388600" y="4191000"/>
                </a:lnTo>
                <a:moveTo>
                  <a:pt x="177800" y="4191000"/>
                </a:moveTo>
                <a:lnTo>
                  <a:pt x="0" y="4191000"/>
                </a:lnTo>
                <a:lnTo>
                  <a:pt x="0" y="4013200"/>
                </a:lnTo>
              </a:path>
            </a:pathLst>
          </a:custGeom>
          <a:noFill/>
          <a:ln w="1270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2" name="HUD Text"/>
          <p:cNvSpPr txBox="1"/>
          <p:nvPr/>
        </p:nvSpPr>
        <p:spPr>
          <a:xfrm>
            <a:off x="10668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AGENT · 各ホスト</a:t>
            </a:r>
          </a:p>
        </p:txBody>
      </p:sp>
      <p:sp>
        <p:nvSpPr>
          <p:cNvPr id="503" name="HUD Text"/>
          <p:cNvSpPr txBox="1"/>
          <p:nvPr/>
        </p:nvSpPr>
        <p:spPr>
          <a:xfrm>
            <a:off x="42672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CLOUDFLARE AI GATEWAY</a:t>
            </a:r>
          </a:p>
        </p:txBody>
      </p:sp>
      <p:sp>
        <p:nvSpPr>
          <p:cNvPr id="504" name="HUD Text"/>
          <p:cNvSpPr txBox="1"/>
          <p:nvPr/>
        </p:nvSpPr>
        <p:spPr>
          <a:xfrm>
            <a:off x="88900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WORKERS AI</a:t>
            </a:r>
          </a:p>
        </p:txBody>
      </p:sp>
      <p:sp>
        <p:nvSpPr>
          <p:cNvPr id="505" name="HUD"/>
          <p:cNvSpPr/>
          <p:nvPr/>
        </p:nvSpPr>
        <p:spPr>
          <a:xfrm>
            <a:off x="1066800" y="2159000"/>
            <a:ext cx="2489200" cy="7112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6" name="HUD"/>
          <p:cNvSpPr/>
          <p:nvPr/>
        </p:nvSpPr>
        <p:spPr>
          <a:xfrm>
            <a:off x="1041400" y="2133600"/>
            <a:ext cx="2540000" cy="762000"/>
          </a:xfrm>
          <a:custGeom>
            <a:avLst/>
            <a:gdLst/>
            <a:ahLst/>
            <a:cxnLst/>
            <a:rect l="0" t="0" r="r" b="b"/>
            <a:pathLst>
              <a:path w="2540000" h="7620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38400" y="0"/>
                </a:moveTo>
                <a:lnTo>
                  <a:pt x="2540000" y="0"/>
                </a:lnTo>
                <a:lnTo>
                  <a:pt x="2540000" y="101600"/>
                </a:lnTo>
                <a:moveTo>
                  <a:pt x="2540000" y="660400"/>
                </a:moveTo>
                <a:lnTo>
                  <a:pt x="2540000" y="762000"/>
                </a:lnTo>
                <a:lnTo>
                  <a:pt x="2438400" y="762000"/>
                </a:lnTo>
                <a:moveTo>
                  <a:pt x="101600" y="762000"/>
                </a:moveTo>
                <a:lnTo>
                  <a:pt x="0" y="762000"/>
                </a:lnTo>
                <a:lnTo>
                  <a:pt x="0" y="6604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8" name="HUD"/>
          <p:cNvSpPr/>
          <p:nvPr/>
        </p:nvSpPr>
        <p:spPr>
          <a:xfrm>
            <a:off x="3333750" y="23431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09" name="HUD Text"/>
          <p:cNvSpPr txBox="1"/>
          <p:nvPr/>
        </p:nvSpPr>
        <p:spPr>
          <a:xfrm>
            <a:off x="1244600" y="2273300"/>
            <a:ext cx="2133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2EE9FF"/>
                </a:solidFill>
                <a:latin typeface="JetBrains Mono"/>
                <a:ea typeface="Rubik"/>
                <a:cs typeface="Rubik"/>
              </a:rPr>
              <a:t>01  </a:t>
            </a:r>
            <a:r>
              <a:rPr lang="ja-JP" altLang="en-US" sz="13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対象を絞る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critical / warning のみ</a:t>
            </a:r>
          </a:p>
        </p:txBody>
      </p:sp>
      <p:sp>
        <p:nvSpPr>
          <p:cNvPr id="510" name="HUD"/>
          <p:cNvSpPr/>
          <p:nvPr/>
        </p:nvSpPr>
        <p:spPr>
          <a:xfrm>
            <a:off x="1066800" y="3098800"/>
            <a:ext cx="2489200" cy="7112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1" name="HUD"/>
          <p:cNvSpPr/>
          <p:nvPr/>
        </p:nvSpPr>
        <p:spPr>
          <a:xfrm>
            <a:off x="1041400" y="3073400"/>
            <a:ext cx="2540000" cy="762000"/>
          </a:xfrm>
          <a:custGeom>
            <a:avLst/>
            <a:gdLst/>
            <a:ahLst/>
            <a:cxnLst/>
            <a:rect l="0" t="0" r="r" b="b"/>
            <a:pathLst>
              <a:path w="2540000" h="7620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38400" y="0"/>
                </a:moveTo>
                <a:lnTo>
                  <a:pt x="2540000" y="0"/>
                </a:lnTo>
                <a:lnTo>
                  <a:pt x="2540000" y="101600"/>
                </a:lnTo>
                <a:moveTo>
                  <a:pt x="2540000" y="660400"/>
                </a:moveTo>
                <a:lnTo>
                  <a:pt x="2540000" y="762000"/>
                </a:lnTo>
                <a:lnTo>
                  <a:pt x="2438400" y="762000"/>
                </a:lnTo>
                <a:moveTo>
                  <a:pt x="101600" y="762000"/>
                </a:moveTo>
                <a:lnTo>
                  <a:pt x="0" y="762000"/>
                </a:lnTo>
                <a:lnTo>
                  <a:pt x="0" y="6604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3" name="HUD"/>
          <p:cNvSpPr/>
          <p:nvPr/>
        </p:nvSpPr>
        <p:spPr>
          <a:xfrm>
            <a:off x="3333750" y="32829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4" name="HUD Text"/>
          <p:cNvSpPr txBox="1"/>
          <p:nvPr/>
        </p:nvSpPr>
        <p:spPr>
          <a:xfrm>
            <a:off x="1244600" y="3213100"/>
            <a:ext cx="2133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2EE9FF"/>
                </a:solidFill>
                <a:latin typeface="JetBrains Mono"/>
                <a:ea typeface="Rubik"/>
                <a:cs typeface="Rubik"/>
              </a:rPr>
              <a:t>02  </a:t>
            </a:r>
            <a:r>
              <a:rPr lang="ja-JP" altLang="en-US" sz="13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生ログを送信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ai_triage.py → Gateway</a:t>
            </a:r>
          </a:p>
        </p:txBody>
      </p:sp>
      <p:sp>
        <p:nvSpPr>
          <p:cNvPr id="515" name="HUD"/>
          <p:cNvSpPr/>
          <p:nvPr/>
        </p:nvSpPr>
        <p:spPr>
          <a:xfrm>
            <a:off x="1066800" y="4038600"/>
            <a:ext cx="2489200" cy="7112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6" name="HUD"/>
          <p:cNvSpPr/>
          <p:nvPr/>
        </p:nvSpPr>
        <p:spPr>
          <a:xfrm>
            <a:off x="1041400" y="4013200"/>
            <a:ext cx="2540000" cy="762000"/>
          </a:xfrm>
          <a:custGeom>
            <a:avLst/>
            <a:gdLst/>
            <a:ahLst/>
            <a:cxnLst/>
            <a:rect l="0" t="0" r="r" b="b"/>
            <a:pathLst>
              <a:path w="2540000" h="7620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38400" y="0"/>
                </a:moveTo>
                <a:lnTo>
                  <a:pt x="2540000" y="0"/>
                </a:lnTo>
                <a:lnTo>
                  <a:pt x="2540000" y="101600"/>
                </a:lnTo>
                <a:moveTo>
                  <a:pt x="2540000" y="660400"/>
                </a:moveTo>
                <a:lnTo>
                  <a:pt x="2540000" y="762000"/>
                </a:lnTo>
                <a:lnTo>
                  <a:pt x="2438400" y="762000"/>
                </a:lnTo>
                <a:moveTo>
                  <a:pt x="101600" y="762000"/>
                </a:moveTo>
                <a:lnTo>
                  <a:pt x="0" y="762000"/>
                </a:lnTo>
                <a:lnTo>
                  <a:pt x="0" y="6604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8" name="HUD"/>
          <p:cNvSpPr/>
          <p:nvPr/>
        </p:nvSpPr>
        <p:spPr>
          <a:xfrm>
            <a:off x="3333750" y="42227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9" name="HUD Text"/>
          <p:cNvSpPr txBox="1"/>
          <p:nvPr/>
        </p:nvSpPr>
        <p:spPr>
          <a:xfrm>
            <a:off x="1244600" y="4152900"/>
            <a:ext cx="2133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FF3D81"/>
                </a:solidFill>
                <a:latin typeface="JetBrains Mono"/>
                <a:ea typeface="Rubik"/>
                <a:cs typeface="Rubik"/>
              </a:rPr>
              <a:t>03  </a:t>
            </a:r>
            <a:r>
              <a:rPr lang="ja-JP" altLang="en-US" sz="13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2行形式をパース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想定外の形式 → 脅威扱い</a:t>
            </a:r>
          </a:p>
        </p:txBody>
      </p:sp>
      <p:sp>
        <p:nvSpPr>
          <p:cNvPr id="520" name="HUD"/>
          <p:cNvSpPr/>
          <p:nvPr/>
        </p:nvSpPr>
        <p:spPr>
          <a:xfrm>
            <a:off x="1066800" y="4978400"/>
            <a:ext cx="2489200" cy="7112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1" name="HUD"/>
          <p:cNvSpPr/>
          <p:nvPr/>
        </p:nvSpPr>
        <p:spPr>
          <a:xfrm>
            <a:off x="1041400" y="4953000"/>
            <a:ext cx="2540000" cy="762000"/>
          </a:xfrm>
          <a:custGeom>
            <a:avLst/>
            <a:gdLst/>
            <a:ahLst/>
            <a:cxnLst/>
            <a:rect l="0" t="0" r="r" b="b"/>
            <a:pathLst>
              <a:path w="2540000" h="7620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38400" y="0"/>
                </a:moveTo>
                <a:lnTo>
                  <a:pt x="2540000" y="0"/>
                </a:lnTo>
                <a:lnTo>
                  <a:pt x="2540000" y="101600"/>
                </a:lnTo>
                <a:moveTo>
                  <a:pt x="2540000" y="660400"/>
                </a:moveTo>
                <a:lnTo>
                  <a:pt x="2540000" y="762000"/>
                </a:lnTo>
                <a:lnTo>
                  <a:pt x="2438400" y="762000"/>
                </a:lnTo>
                <a:moveTo>
                  <a:pt x="101600" y="762000"/>
                </a:moveTo>
                <a:lnTo>
                  <a:pt x="0" y="762000"/>
                </a:lnTo>
                <a:lnTo>
                  <a:pt x="0" y="6604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3" name="HUD"/>
          <p:cNvSpPr/>
          <p:nvPr/>
        </p:nvSpPr>
        <p:spPr>
          <a:xfrm>
            <a:off x="3333750" y="51625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4" name="HUD Text"/>
          <p:cNvSpPr txBox="1"/>
          <p:nvPr/>
        </p:nvSpPr>
        <p:spPr>
          <a:xfrm>
            <a:off x="1244600" y="5092700"/>
            <a:ext cx="2133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FF3D81"/>
                </a:solidFill>
                <a:latin typeface="JetBrains Mono"/>
                <a:ea typeface="Rubik"/>
                <a:cs typeface="Rubik"/>
              </a:rPr>
              <a:t>04  </a:t>
            </a:r>
            <a:r>
              <a:rPr lang="ja-JP" altLang="en-US" sz="13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NO なら INFO へ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ai_dismissed で記録</a:t>
            </a:r>
          </a:p>
        </p:txBody>
      </p:sp>
      <p:sp>
        <p:nvSpPr>
          <p:cNvPr id="525" name="HUD"/>
          <p:cNvSpPr/>
          <p:nvPr/>
        </p:nvSpPr>
        <p:spPr>
          <a:xfrm>
            <a:off x="4216400" y="2184400"/>
            <a:ext cx="4064000" cy="36576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60000"/>
              </a:srgbClr>
            </a:solidFill>
          </a:ln>
          <a:effectLst>
            <a:glow rad="127000">
              <a:srgbClr val="FF3D81">
                <a:alpha val="22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6" name="HUD"/>
          <p:cNvSpPr/>
          <p:nvPr/>
        </p:nvSpPr>
        <p:spPr>
          <a:xfrm>
            <a:off x="4191000" y="2159000"/>
            <a:ext cx="4114800" cy="3708400"/>
          </a:xfrm>
          <a:custGeom>
            <a:avLst/>
            <a:gdLst/>
            <a:ahLst/>
            <a:cxnLst/>
            <a:rect l="0" t="0" r="r" b="b"/>
            <a:pathLst>
              <a:path w="4114800" h="37084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4013200" y="0"/>
                </a:moveTo>
                <a:lnTo>
                  <a:pt x="4114800" y="0"/>
                </a:lnTo>
                <a:lnTo>
                  <a:pt x="4114800" y="101600"/>
                </a:lnTo>
                <a:moveTo>
                  <a:pt x="4114800" y="3606800"/>
                </a:moveTo>
                <a:lnTo>
                  <a:pt x="4114800" y="3708400"/>
                </a:lnTo>
                <a:lnTo>
                  <a:pt x="4013200" y="3708400"/>
                </a:lnTo>
                <a:moveTo>
                  <a:pt x="101600" y="3708400"/>
                </a:moveTo>
                <a:lnTo>
                  <a:pt x="0" y="3708400"/>
                </a:lnTo>
                <a:lnTo>
                  <a:pt x="0" y="36068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7" name="HUD"/>
          <p:cNvSpPr/>
          <p:nvPr/>
        </p:nvSpPr>
        <p:spPr>
          <a:xfrm>
            <a:off x="4394200" y="2336800"/>
            <a:ext cx="3708400" cy="431800"/>
          </a:xfrm>
          <a:prstGeom prst="rect">
            <a:avLst/>
          </a:prstGeom>
          <a:solidFill>
            <a:srgbClr val="0B131C"/>
          </a:solidFill>
          <a:ln w="635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8" name="HUD Text"/>
          <p:cNvSpPr txBox="1"/>
          <p:nvPr/>
        </p:nvSpPr>
        <p:spPr>
          <a:xfrm>
            <a:off x="4521200" y="2387600"/>
            <a:ext cx="3505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b="1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POST </a:t>
            </a:r>
            <a:r>
              <a:rPr lang="ja-JP" altLang="en-US" sz="1000" dirty="0">
                <a:solidFill>
                  <a:srgbClr val="EAFFFB"/>
                </a:solidFill>
                <a:latin typeface="JetBrains Mono"/>
                <a:ea typeface="JetBrains Mono"/>
                <a:cs typeface="JetBrains Mono"/>
              </a:rPr>
              <a:t>gateway.ai.cloudflare.com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dirty="0">
                <a:solidFill>
                  <a:srgbClr val="8FA3B0"/>
                </a:solidFill>
                <a:latin typeface="JetBrains Mono"/>
                <a:ea typeface="JetBrains Mono"/>
                <a:cs typeface="JetBrains Mono"/>
              </a:rPr>
              <a:t>/v1/{account}/sentinel/workers-ai/…</a:t>
            </a:r>
          </a:p>
        </p:txBody>
      </p:sp>
      <p:sp>
        <p:nvSpPr>
          <p:cNvPr id="529" name="HUD Text"/>
          <p:cNvSpPr txBox="1"/>
          <p:nvPr/>
        </p:nvSpPr>
        <p:spPr>
          <a:xfrm>
            <a:off x="4394200" y="2997200"/>
            <a:ext cx="330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b="1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30" name="HUD"/>
          <p:cNvSpPr/>
          <p:nvPr/>
        </p:nvSpPr>
        <p:spPr>
          <a:xfrm>
            <a:off x="4775200" y="3149600"/>
            <a:ext cx="50800" cy="508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381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1" name="HUD Text"/>
          <p:cNvSpPr txBox="1"/>
          <p:nvPr/>
        </p:nvSpPr>
        <p:spPr>
          <a:xfrm>
            <a:off x="4953000" y="2997200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APIトークン</a:t>
            </a:r>
          </a:p>
        </p:txBody>
      </p:sp>
      <p:sp>
        <p:nvSpPr>
          <p:cNvPr id="532" name="HUD Text"/>
          <p:cNvSpPr txBox="1"/>
          <p:nvPr/>
        </p:nvSpPr>
        <p:spPr>
          <a:xfrm>
            <a:off x="6223000" y="29972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Workers AI 用トークンで保護</a:t>
            </a:r>
          </a:p>
        </p:txBody>
      </p:sp>
      <p:sp>
        <p:nvSpPr>
          <p:cNvPr id="533" name="HUD"/>
          <p:cNvSpPr/>
          <p:nvPr/>
        </p:nvSpPr>
        <p:spPr>
          <a:xfrm>
            <a:off x="4394200" y="3429000"/>
            <a:ext cx="3708400" cy="1270"/>
          </a:xfrm>
          <a:prstGeom prst="rect">
            <a:avLst/>
          </a:prstGeom>
          <a:noFill/>
          <a:ln w="635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4" name="HUD Text"/>
          <p:cNvSpPr txBox="1"/>
          <p:nvPr/>
        </p:nvSpPr>
        <p:spPr>
          <a:xfrm>
            <a:off x="4394200" y="3556000"/>
            <a:ext cx="330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b="1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35" name="HUD"/>
          <p:cNvSpPr/>
          <p:nvPr/>
        </p:nvSpPr>
        <p:spPr>
          <a:xfrm>
            <a:off x="4775200" y="3708400"/>
            <a:ext cx="50800" cy="508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381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6" name="HUD Text"/>
          <p:cNvSpPr txBox="1"/>
          <p:nvPr/>
        </p:nvSpPr>
        <p:spPr>
          <a:xfrm>
            <a:off x="4953000" y="3556000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Gateway認証</a:t>
            </a:r>
          </a:p>
        </p:txBody>
      </p:sp>
      <p:sp>
        <p:nvSpPr>
          <p:cNvPr id="537" name="HUD Text"/>
          <p:cNvSpPr txBox="1"/>
          <p:nvPr/>
        </p:nvSpPr>
        <p:spPr>
          <a:xfrm>
            <a:off x="6223000" y="35560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OFF（ヘッダー追加を避けた）</a:t>
            </a:r>
          </a:p>
        </p:txBody>
      </p:sp>
      <p:sp>
        <p:nvSpPr>
          <p:cNvPr id="538" name="HUD"/>
          <p:cNvSpPr/>
          <p:nvPr/>
        </p:nvSpPr>
        <p:spPr>
          <a:xfrm>
            <a:off x="4394200" y="3987800"/>
            <a:ext cx="3708400" cy="1270"/>
          </a:xfrm>
          <a:prstGeom prst="rect">
            <a:avLst/>
          </a:prstGeom>
          <a:noFill/>
          <a:ln w="635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9" name="HUD Text"/>
          <p:cNvSpPr txBox="1"/>
          <p:nvPr/>
        </p:nvSpPr>
        <p:spPr>
          <a:xfrm>
            <a:off x="4394200" y="4114800"/>
            <a:ext cx="330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b="1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540" name="HUD"/>
          <p:cNvSpPr/>
          <p:nvPr/>
        </p:nvSpPr>
        <p:spPr>
          <a:xfrm>
            <a:off x="4775200" y="4267200"/>
            <a:ext cx="50800" cy="508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381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41" name="HUD Text"/>
          <p:cNvSpPr txBox="1"/>
          <p:nvPr/>
        </p:nvSpPr>
        <p:spPr>
          <a:xfrm>
            <a:off x="4953000" y="4114800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タイムアウト</a:t>
            </a:r>
          </a:p>
        </p:txBody>
      </p:sp>
      <p:sp>
        <p:nvSpPr>
          <p:cNvPr id="542" name="HUD Text"/>
          <p:cNvSpPr txBox="1"/>
          <p:nvPr/>
        </p:nvSpPr>
        <p:spPr>
          <a:xfrm>
            <a:off x="6223000" y="41148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8秒。失敗時も通知は継続</a:t>
            </a:r>
          </a:p>
        </p:txBody>
      </p:sp>
      <p:sp>
        <p:nvSpPr>
          <p:cNvPr id="543" name="HUD"/>
          <p:cNvSpPr/>
          <p:nvPr/>
        </p:nvSpPr>
        <p:spPr>
          <a:xfrm>
            <a:off x="4394200" y="4546600"/>
            <a:ext cx="3708400" cy="1270"/>
          </a:xfrm>
          <a:prstGeom prst="rect">
            <a:avLst/>
          </a:prstGeom>
          <a:noFill/>
          <a:ln w="635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44" name="HUD Text"/>
          <p:cNvSpPr txBox="1"/>
          <p:nvPr/>
        </p:nvSpPr>
        <p:spPr>
          <a:xfrm>
            <a:off x="4394200" y="4673600"/>
            <a:ext cx="330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b="1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545" name="HUD"/>
          <p:cNvSpPr/>
          <p:nvPr/>
        </p:nvSpPr>
        <p:spPr>
          <a:xfrm>
            <a:off x="4775200" y="4826000"/>
            <a:ext cx="50800" cy="508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381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46" name="HUD Text"/>
          <p:cNvSpPr txBox="1"/>
          <p:nvPr/>
        </p:nvSpPr>
        <p:spPr>
          <a:xfrm>
            <a:off x="4953000" y="4673600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User-Agent</a:t>
            </a:r>
          </a:p>
        </p:txBody>
      </p:sp>
      <p:sp>
        <p:nvSpPr>
          <p:cNvPr id="547" name="HUD Text"/>
          <p:cNvSpPr txBox="1"/>
          <p:nvPr/>
        </p:nvSpPr>
        <p:spPr>
          <a:xfrm>
            <a:off x="6223000" y="46736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明示必須。既定だと403(1010)</a:t>
            </a:r>
          </a:p>
        </p:txBody>
      </p:sp>
      <p:sp>
        <p:nvSpPr>
          <p:cNvPr id="548" name="HUD"/>
          <p:cNvSpPr/>
          <p:nvPr/>
        </p:nvSpPr>
        <p:spPr>
          <a:xfrm>
            <a:off x="4394200" y="5105400"/>
            <a:ext cx="3708400" cy="1270"/>
          </a:xfrm>
          <a:prstGeom prst="rect">
            <a:avLst/>
          </a:prstGeom>
          <a:noFill/>
          <a:ln w="635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49" name="HUD Text"/>
          <p:cNvSpPr txBox="1"/>
          <p:nvPr/>
        </p:nvSpPr>
        <p:spPr>
          <a:xfrm>
            <a:off x="4394200" y="5232400"/>
            <a:ext cx="330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b="1" dirty="0">
                <a:solidFill>
                  <a:srgbClr val="FFB547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550" name="HUD"/>
          <p:cNvSpPr/>
          <p:nvPr/>
        </p:nvSpPr>
        <p:spPr>
          <a:xfrm>
            <a:off x="4775200" y="5384800"/>
            <a:ext cx="50800" cy="50800"/>
          </a:xfrm>
          <a:prstGeom prst="ellipse">
            <a:avLst/>
          </a:prstGeom>
          <a:solidFill>
            <a:srgbClr val="FFB547"/>
          </a:solidFill>
          <a:ln>
            <a:noFill/>
          </a:ln>
          <a:effectLst>
            <a:glow rad="38100">
              <a:srgbClr val="FFB547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51" name="HUD Text"/>
          <p:cNvSpPr txBox="1"/>
          <p:nvPr/>
        </p:nvSpPr>
        <p:spPr>
          <a:xfrm>
            <a:off x="4953000" y="5232400"/>
            <a:ext cx="12700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レート制限</a:t>
            </a:r>
          </a:p>
        </p:txBody>
      </p:sp>
      <p:sp>
        <p:nvSpPr>
          <p:cNvPr id="552" name="HUD Text"/>
          <p:cNvSpPr txBox="1"/>
          <p:nvPr/>
        </p:nvSpPr>
        <p:spPr>
          <a:xfrm>
            <a:off x="6223000" y="5232400"/>
            <a:ext cx="19812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FFB547"/>
                </a:solidFill>
                <a:latin typeface="Rubik"/>
                <a:ea typeface="Rubik"/>
                <a:cs typeface="Rubik"/>
              </a:rPr>
              <a:t>未実装。今後の課題</a:t>
            </a:r>
          </a:p>
        </p:txBody>
      </p:sp>
      <p:sp>
        <p:nvSpPr>
          <p:cNvPr id="553" name="HUD"/>
          <p:cNvSpPr/>
          <p:nvPr/>
        </p:nvSpPr>
        <p:spPr>
          <a:xfrm>
            <a:off x="4800600" y="2997200"/>
            <a:ext cx="1270" cy="2235200"/>
          </a:xfrm>
          <a:custGeom>
            <a:avLst/>
            <a:gdLst/>
            <a:ahLst/>
            <a:cxnLst/>
            <a:rect l="0" t="0" r="r" b="b"/>
            <a:pathLst>
              <a:path w="1270" h="2235200" fill="none">
                <a:moveTo>
                  <a:pt x="0" y="0"/>
                </a:moveTo>
                <a:lnTo>
                  <a:pt x="0" y="2235200"/>
                </a:lnTo>
              </a:path>
            </a:pathLst>
          </a:custGeom>
          <a:noFill/>
          <a:ln w="9525">
            <a:solidFill>
              <a:srgbClr val="FF3D81">
                <a:alpha val="45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54" name="HUD"/>
          <p:cNvSpPr/>
          <p:nvPr/>
        </p:nvSpPr>
        <p:spPr>
          <a:xfrm>
            <a:off x="8991600" y="2184400"/>
            <a:ext cx="2133600" cy="15748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60000"/>
              </a:srgbClr>
            </a:solidFill>
          </a:ln>
          <a:effectLst>
            <a:glow rad="101600">
              <a:srgbClr val="FF3D81">
                <a:alpha val="28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55" name="HUD"/>
          <p:cNvSpPr/>
          <p:nvPr/>
        </p:nvSpPr>
        <p:spPr>
          <a:xfrm>
            <a:off x="8966200" y="2159000"/>
            <a:ext cx="2184400" cy="1625600"/>
          </a:xfrm>
          <a:custGeom>
            <a:avLst/>
            <a:gdLst/>
            <a:ahLst/>
            <a:cxnLst/>
            <a:rect l="0" t="0" r="r" b="b"/>
            <a:pathLst>
              <a:path w="2184400" h="16256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082800" y="0"/>
                </a:moveTo>
                <a:lnTo>
                  <a:pt x="2184400" y="0"/>
                </a:lnTo>
                <a:lnTo>
                  <a:pt x="2184400" y="101600"/>
                </a:lnTo>
                <a:moveTo>
                  <a:pt x="2184400" y="1524000"/>
                </a:moveTo>
                <a:lnTo>
                  <a:pt x="2184400" y="1625600"/>
                </a:lnTo>
                <a:lnTo>
                  <a:pt x="2082800" y="1625600"/>
                </a:lnTo>
                <a:moveTo>
                  <a:pt x="101600" y="1625600"/>
                </a:moveTo>
                <a:lnTo>
                  <a:pt x="0" y="1625600"/>
                </a:lnTo>
                <a:lnTo>
                  <a:pt x="0" y="15240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56" name="HUD Text"/>
          <p:cNvSpPr txBox="1"/>
          <p:nvPr/>
        </p:nvSpPr>
        <p:spPr>
          <a:xfrm>
            <a:off x="9169400" y="23241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MODEL</a:t>
            </a:r>
          </a:p>
        </p:txBody>
      </p:sp>
      <p:sp>
        <p:nvSpPr>
          <p:cNvPr id="557" name="HUD"/>
          <p:cNvSpPr/>
          <p:nvPr/>
        </p:nvSpPr>
        <p:spPr>
          <a:xfrm>
            <a:off x="10902950" y="23685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58" name="HUD Text"/>
          <p:cNvSpPr txBox="1"/>
          <p:nvPr/>
        </p:nvSpPr>
        <p:spPr>
          <a:xfrm>
            <a:off x="9169400" y="2540000"/>
            <a:ext cx="177800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llama-3.1-8b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JetBrains Mono"/>
                <a:ea typeface="JetBrains Mono"/>
                <a:cs typeface="JetBrains Mono"/>
              </a:rPr>
              <a:t>instruct-fast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JetBrains Mono"/>
                <a:ea typeface="JetBrains Mono"/>
                <a:cs typeface="JetBrains Mono"/>
              </a:rPr>
              <a:t>軽量・高速モデル</a:t>
            </a:r>
          </a:p>
        </p:txBody>
      </p:sp>
      <p:sp>
        <p:nvSpPr>
          <p:cNvPr id="559" name="HUD"/>
          <p:cNvSpPr/>
          <p:nvPr/>
        </p:nvSpPr>
        <p:spPr>
          <a:xfrm>
            <a:off x="8991600" y="4038600"/>
            <a:ext cx="2133600" cy="11176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60" name="HUD"/>
          <p:cNvSpPr/>
          <p:nvPr/>
        </p:nvSpPr>
        <p:spPr>
          <a:xfrm>
            <a:off x="8966200" y="4013200"/>
            <a:ext cx="2184400" cy="1168400"/>
          </a:xfrm>
          <a:custGeom>
            <a:avLst/>
            <a:gdLst/>
            <a:ahLst/>
            <a:cxnLst/>
            <a:rect l="0" t="0" r="r" b="b"/>
            <a:pathLst>
              <a:path w="2184400" h="11684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082800" y="0"/>
                </a:moveTo>
                <a:lnTo>
                  <a:pt x="2184400" y="0"/>
                </a:lnTo>
                <a:lnTo>
                  <a:pt x="2184400" y="101600"/>
                </a:lnTo>
                <a:moveTo>
                  <a:pt x="2184400" y="1066800"/>
                </a:moveTo>
                <a:lnTo>
                  <a:pt x="2184400" y="1168400"/>
                </a:lnTo>
                <a:lnTo>
                  <a:pt x="2082800" y="1168400"/>
                </a:lnTo>
                <a:moveTo>
                  <a:pt x="101600" y="1168400"/>
                </a:moveTo>
                <a:lnTo>
                  <a:pt x="0" y="1168400"/>
                </a:lnTo>
                <a:lnTo>
                  <a:pt x="0" y="10668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61" name="HUD Text"/>
          <p:cNvSpPr txBox="1"/>
          <p:nvPr/>
        </p:nvSpPr>
        <p:spPr>
          <a:xfrm>
            <a:off x="9169400" y="41783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OUTPUT</a:t>
            </a:r>
          </a:p>
        </p:txBody>
      </p:sp>
      <p:sp>
        <p:nvSpPr>
          <p:cNvPr id="562" name="HUD"/>
          <p:cNvSpPr/>
          <p:nvPr/>
        </p:nvSpPr>
        <p:spPr>
          <a:xfrm>
            <a:off x="10902950" y="42227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63" name="HUD Text"/>
          <p:cNvSpPr txBox="1"/>
          <p:nvPr/>
        </p:nvSpPr>
        <p:spPr>
          <a:xfrm>
            <a:off x="9169400" y="4394200"/>
            <a:ext cx="1778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b="1" dirty="0">
                <a:solidFill>
                  <a:srgbClr val="FF3D81"/>
                </a:solidFill>
                <a:latin typeface="Rubik"/>
                <a:ea typeface="Rubik"/>
                <a:cs typeface="Rubik"/>
              </a:rPr>
              <a:t>THREAT: YES / NO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+ 日本語1〜2文</a:t>
            </a:r>
          </a:p>
        </p:txBody>
      </p:sp>
      <p:sp>
        <p:nvSpPr>
          <p:cNvPr id="564" name="HUD Text"/>
          <p:cNvSpPr txBox="1"/>
          <p:nvPr/>
        </p:nvSpPr>
        <p:spPr>
          <a:xfrm>
            <a:off x="8991600" y="5334000"/>
            <a:ext cx="21336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何が起きたか・緊急度・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次に確認すべきこと</a:t>
            </a:r>
          </a:p>
        </p:txBody>
      </p:sp>
      <p:sp>
        <p:nvSpPr>
          <p:cNvPr id="565" name="HUD"/>
          <p:cNvSpPr/>
          <p:nvPr/>
        </p:nvSpPr>
        <p:spPr>
          <a:xfrm>
            <a:off x="3556000" y="3454400"/>
            <a:ext cx="660400" cy="1270"/>
          </a:xfrm>
          <a:custGeom>
            <a:avLst/>
            <a:gdLst/>
            <a:ahLst/>
            <a:cxnLst/>
            <a:rect l="0" t="0" r="r" b="b"/>
            <a:pathLst>
              <a:path w="660400" h="1270" fill="none">
                <a:moveTo>
                  <a:pt x="0" y="0"/>
                </a:moveTo>
                <a:lnTo>
                  <a:pt x="6604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  <a:effectLst>
            <a:glow rad="38100">
              <a:srgbClr val="2EE9FF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66" name="HUD"/>
          <p:cNvSpPr/>
          <p:nvPr/>
        </p:nvSpPr>
        <p:spPr>
          <a:xfrm>
            <a:off x="3662680" y="3149600"/>
            <a:ext cx="44704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2EE9FF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67" name="HUD Text"/>
          <p:cNvSpPr txBox="1"/>
          <p:nvPr/>
        </p:nvSpPr>
        <p:spPr>
          <a:xfrm>
            <a:off x="3662680" y="3149600"/>
            <a:ext cx="44704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REQ</a:t>
            </a:r>
          </a:p>
        </p:txBody>
      </p:sp>
      <p:sp>
        <p:nvSpPr>
          <p:cNvPr id="568" name="HUD"/>
          <p:cNvSpPr/>
          <p:nvPr/>
        </p:nvSpPr>
        <p:spPr>
          <a:xfrm>
            <a:off x="8280400" y="2971800"/>
            <a:ext cx="711200" cy="1270"/>
          </a:xfrm>
          <a:custGeom>
            <a:avLst/>
            <a:gdLst/>
            <a:ahLst/>
            <a:cxnLst/>
            <a:rect l="0" t="0" r="r" b="b"/>
            <a:pathLst>
              <a:path w="711200" h="1270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  <a:effectLst>
            <a:glow rad="38100">
              <a:srgbClr val="2EE9FF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69" name="HUD"/>
          <p:cNvSpPr/>
          <p:nvPr/>
        </p:nvSpPr>
        <p:spPr>
          <a:xfrm>
            <a:off x="8280400" y="4597400"/>
            <a:ext cx="711200" cy="1270"/>
          </a:xfrm>
          <a:custGeom>
            <a:avLst/>
            <a:gdLst/>
            <a:ahLst/>
            <a:cxnLst/>
            <a:rect l="0" t="0" r="r" b="b"/>
            <a:pathLst>
              <a:path w="711200" h="1270" fill="none">
                <a:moveTo>
                  <a:pt x="7112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3D81"/>
            </a:solidFill>
            <a:tailEnd type="triangle" w="med" len="med"/>
          </a:ln>
          <a:effectLst>
            <a:glow rad="38100">
              <a:srgbClr val="FF3D81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70" name="HUD"/>
          <p:cNvSpPr/>
          <p:nvPr/>
        </p:nvSpPr>
        <p:spPr>
          <a:xfrm>
            <a:off x="3556000" y="4394200"/>
            <a:ext cx="660400" cy="1270"/>
          </a:xfrm>
          <a:custGeom>
            <a:avLst/>
            <a:gdLst/>
            <a:ahLst/>
            <a:cxnLst/>
            <a:rect l="0" t="0" r="r" b="b"/>
            <a:pathLst>
              <a:path w="660400" h="1270" fill="none">
                <a:moveTo>
                  <a:pt x="660400" y="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FF3D81"/>
            </a:solidFill>
            <a:tailEnd type="triangle" w="med" len="med"/>
          </a:ln>
          <a:effectLst>
            <a:glow rad="38100">
              <a:srgbClr val="FF3D81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71" name="HUD"/>
          <p:cNvSpPr/>
          <p:nvPr/>
        </p:nvSpPr>
        <p:spPr>
          <a:xfrm>
            <a:off x="3662680" y="4089400"/>
            <a:ext cx="44704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FF3D81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72" name="HUD Text"/>
          <p:cNvSpPr txBox="1"/>
          <p:nvPr/>
        </p:nvSpPr>
        <p:spPr>
          <a:xfrm>
            <a:off x="3662680" y="4089400"/>
            <a:ext cx="44704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RES</a:t>
            </a:r>
          </a:p>
        </p:txBody>
      </p:sp>
      <p:sp>
        <p:nvSpPr>
          <p:cNvPr id="30" name="Text 23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04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533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3種類のルールベース検知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42" y="1902882"/>
            <a:ext cx="3380317" cy="3935942"/>
          </a:xfrm>
          <a:prstGeom prst="roundRect">
            <a:avLst>
              <a:gd name="adj" fmla="val 3663"/>
            </a:avLst>
          </a:prstGeom>
          <a:solidFill>
            <a:srgbClr val="121A24"/>
          </a:solidFill>
          <a:ln w="6350">
            <a:solidFill>
              <a:srgbClr val="1E2B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Ke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7442" y="2184383"/>
            <a:ext cx="304767" cy="3047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442" y="2616150"/>
            <a:ext cx="2901836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認証ログ監視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97442" y="3002193"/>
            <a:ext cx="2901836" cy="71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FB4B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ブルートフォース(300秒に5回失敗)、存在しないユーザーへのログイン、ログイン成功を検知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759" y="1902882"/>
            <a:ext cx="3380399" cy="3935942"/>
          </a:xfrm>
          <a:prstGeom prst="roundRect">
            <a:avLst>
              <a:gd name="adj" fmla="val 3663"/>
            </a:avLst>
          </a:prstGeom>
          <a:solidFill>
            <a:srgbClr val="121A24"/>
          </a:solidFill>
          <a:ln w="6350">
            <a:solidFill>
              <a:srgbClr val="1E2B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7259" y="2184383"/>
            <a:ext cx="304767" cy="3047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87259" y="2616150"/>
            <a:ext cx="290192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ファイル整合性監視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687259" y="3002193"/>
            <a:ext cx="2901921" cy="71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FB4B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/etc等の重要ファイルのSHA-256を記録し、改ざん・追加・削除を検知（簡易AIDE）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658" y="1902882"/>
            <a:ext cx="3380399" cy="3935942"/>
          </a:xfrm>
          <a:prstGeom prst="roundRect">
            <a:avLst>
              <a:gd name="adj" fmla="val 3663"/>
            </a:avLst>
          </a:prstGeom>
          <a:solidFill>
            <a:srgbClr val="121A24"/>
          </a:solidFill>
          <a:ln w="6350">
            <a:solidFill>
              <a:srgbClr val="1E2B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3" name="Image 2" descr="Activit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7158" y="2184383"/>
            <a:ext cx="304767" cy="3047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7158" y="2616150"/>
            <a:ext cx="2901921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プロセス/ネットワーク監視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77158" y="3002193"/>
            <a:ext cx="2901921" cy="48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FB4B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未知プロセスの起動、想定外のLISTENポート、高CPU使用率プロセスを検知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05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900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F3D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 TRIAGE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「限りなくAIにお任せ」の判定フロー</a:t>
            </a:r>
            <a:endParaRPr lang="en-US" sz="3200" dirty="0"/>
          </a:p>
        </p:txBody>
      </p:sp>
      <p:sp>
        <p:nvSpPr>
          <p:cNvPr id="500" name="HUD"/>
          <p:cNvSpPr/>
          <p:nvPr/>
        </p:nvSpPr>
        <p:spPr>
          <a:xfrm>
            <a:off x="812800" y="1778000"/>
            <a:ext cx="10566400" cy="4191000"/>
          </a:xfrm>
          <a:prstGeom prst="rect">
            <a:avLst/>
          </a:prstGeom>
          <a:pattFill prst="dotGrid">
            <a:fgClr>
              <a:srgbClr val="1C2A36"/>
            </a:fgClr>
            <a:bgClr>
              <a:srgbClr val="0B131C"/>
            </a:bgClr>
          </a:pattFill>
          <a:ln w="6350">
            <a:solidFill>
              <a:srgbClr val="1A273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1" name="HUD"/>
          <p:cNvSpPr/>
          <p:nvPr/>
        </p:nvSpPr>
        <p:spPr>
          <a:xfrm>
            <a:off x="812800" y="1778000"/>
            <a:ext cx="10566400" cy="4191000"/>
          </a:xfrm>
          <a:custGeom>
            <a:avLst/>
            <a:gdLst/>
            <a:ahLst/>
            <a:cxnLst/>
            <a:rect l="0" t="0" r="r" b="b"/>
            <a:pathLst>
              <a:path w="10566400" h="4191000" fill="none">
                <a:moveTo>
                  <a:pt x="0" y="177800"/>
                </a:moveTo>
                <a:lnTo>
                  <a:pt x="0" y="0"/>
                </a:lnTo>
                <a:lnTo>
                  <a:pt x="177800" y="0"/>
                </a:lnTo>
                <a:moveTo>
                  <a:pt x="10388600" y="0"/>
                </a:moveTo>
                <a:lnTo>
                  <a:pt x="10566400" y="0"/>
                </a:lnTo>
                <a:lnTo>
                  <a:pt x="10566400" y="177800"/>
                </a:lnTo>
                <a:moveTo>
                  <a:pt x="10566400" y="4013200"/>
                </a:moveTo>
                <a:lnTo>
                  <a:pt x="10566400" y="4191000"/>
                </a:lnTo>
                <a:lnTo>
                  <a:pt x="10388600" y="4191000"/>
                </a:lnTo>
                <a:moveTo>
                  <a:pt x="177800" y="4191000"/>
                </a:moveTo>
                <a:lnTo>
                  <a:pt x="0" y="4191000"/>
                </a:lnTo>
                <a:lnTo>
                  <a:pt x="0" y="4013200"/>
                </a:lnTo>
              </a:path>
            </a:pathLst>
          </a:custGeom>
          <a:noFill/>
          <a:ln w="1270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2" name="HUD Text"/>
          <p:cNvSpPr txBox="1"/>
          <p:nvPr/>
        </p:nvSpPr>
        <p:spPr>
          <a:xfrm>
            <a:off x="10668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1000" spc="2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INPUT</a:t>
            </a:r>
          </a:p>
        </p:txBody>
      </p:sp>
      <p:sp>
        <p:nvSpPr>
          <p:cNvPr id="503" name="HUD Text"/>
          <p:cNvSpPr txBox="1"/>
          <p:nvPr/>
        </p:nvSpPr>
        <p:spPr>
          <a:xfrm>
            <a:off x="45212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1000" spc="20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AI TRIAGE</a:t>
            </a:r>
          </a:p>
        </p:txBody>
      </p:sp>
      <p:sp>
        <p:nvSpPr>
          <p:cNvPr id="504" name="HUD Text"/>
          <p:cNvSpPr txBox="1"/>
          <p:nvPr/>
        </p:nvSpPr>
        <p:spPr>
          <a:xfrm>
            <a:off x="85852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1000" spc="2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VERDICT</a:t>
            </a:r>
          </a:p>
        </p:txBody>
      </p:sp>
      <p:sp>
        <p:nvSpPr>
          <p:cNvPr id="505" name="HUD"/>
          <p:cNvSpPr/>
          <p:nvPr/>
        </p:nvSpPr>
        <p:spPr>
          <a:xfrm>
            <a:off x="1066800" y="3200400"/>
            <a:ext cx="2540000" cy="11684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6" name="HUD"/>
          <p:cNvSpPr/>
          <p:nvPr/>
        </p:nvSpPr>
        <p:spPr>
          <a:xfrm>
            <a:off x="1041400" y="3175000"/>
            <a:ext cx="2590800" cy="1219200"/>
          </a:xfrm>
          <a:custGeom>
            <a:avLst/>
            <a:gdLst/>
            <a:ahLst/>
            <a:cxnLst/>
            <a:rect l="0" t="0" r="r" b="b"/>
            <a:pathLst>
              <a:path w="2590800" h="12192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89200" y="0"/>
                </a:moveTo>
                <a:lnTo>
                  <a:pt x="2590800" y="0"/>
                </a:lnTo>
                <a:lnTo>
                  <a:pt x="2590800" y="101600"/>
                </a:lnTo>
                <a:moveTo>
                  <a:pt x="2590800" y="1117600"/>
                </a:moveTo>
                <a:lnTo>
                  <a:pt x="2590800" y="1219200"/>
                </a:lnTo>
                <a:lnTo>
                  <a:pt x="2489200" y="1219200"/>
                </a:lnTo>
                <a:moveTo>
                  <a:pt x="101600" y="1219200"/>
                </a:moveTo>
                <a:lnTo>
                  <a:pt x="0" y="1219200"/>
                </a:lnTo>
                <a:lnTo>
                  <a:pt x="0" y="11176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7" name="HUD Text"/>
          <p:cNvSpPr txBox="1"/>
          <p:nvPr/>
        </p:nvSpPr>
        <p:spPr>
          <a:xfrm>
            <a:off x="1244600" y="33401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ALERT</a:t>
            </a:r>
          </a:p>
        </p:txBody>
      </p:sp>
      <p:sp>
        <p:nvSpPr>
          <p:cNvPr id="508" name="HUD"/>
          <p:cNvSpPr/>
          <p:nvPr/>
        </p:nvSpPr>
        <p:spPr>
          <a:xfrm>
            <a:off x="3384550" y="33845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09" name="HUD Text"/>
          <p:cNvSpPr txBox="1"/>
          <p:nvPr/>
        </p:nvSpPr>
        <p:spPr>
          <a:xfrm>
            <a:off x="1244600" y="3556000"/>
            <a:ext cx="2184400" cy="736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3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CRITICAL / WARNING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を検知したときだけ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AI判定へ回す</a:t>
            </a:r>
          </a:p>
        </p:txBody>
      </p:sp>
      <p:sp>
        <p:nvSpPr>
          <p:cNvPr id="510" name="HUD"/>
          <p:cNvSpPr/>
          <p:nvPr/>
        </p:nvSpPr>
        <p:spPr>
          <a:xfrm>
            <a:off x="4521200" y="2844800"/>
            <a:ext cx="3149600" cy="18796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60000"/>
              </a:srgbClr>
            </a:solidFill>
          </a:ln>
          <a:effectLst>
            <a:glow rad="152400">
              <a:srgbClr val="FF3D81">
                <a:alpha val="26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1" name="HUD"/>
          <p:cNvSpPr/>
          <p:nvPr/>
        </p:nvSpPr>
        <p:spPr>
          <a:xfrm>
            <a:off x="4495800" y="2819400"/>
            <a:ext cx="3200400" cy="1930400"/>
          </a:xfrm>
          <a:custGeom>
            <a:avLst/>
            <a:gdLst/>
            <a:ahLst/>
            <a:cxnLst/>
            <a:rect l="0" t="0" r="r" b="b"/>
            <a:pathLst>
              <a:path w="3200400" h="19304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3098800" y="0"/>
                </a:moveTo>
                <a:lnTo>
                  <a:pt x="3200400" y="0"/>
                </a:lnTo>
                <a:lnTo>
                  <a:pt x="3200400" y="101600"/>
                </a:lnTo>
                <a:moveTo>
                  <a:pt x="3200400" y="1828800"/>
                </a:moveTo>
                <a:lnTo>
                  <a:pt x="3200400" y="1930400"/>
                </a:lnTo>
                <a:lnTo>
                  <a:pt x="3098800" y="1930400"/>
                </a:lnTo>
                <a:moveTo>
                  <a:pt x="101600" y="1930400"/>
                </a:moveTo>
                <a:lnTo>
                  <a:pt x="0" y="1930400"/>
                </a:lnTo>
                <a:lnTo>
                  <a:pt x="0" y="18288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2" name="HUD Text"/>
          <p:cNvSpPr txBox="1"/>
          <p:nvPr/>
        </p:nvSpPr>
        <p:spPr>
          <a:xfrm>
            <a:off x="4699000" y="2984500"/>
            <a:ext cx="2641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CLOUDFLARE</a:t>
            </a:r>
          </a:p>
        </p:txBody>
      </p:sp>
      <p:sp>
        <p:nvSpPr>
          <p:cNvPr id="513" name="HUD"/>
          <p:cNvSpPr/>
          <p:nvPr/>
        </p:nvSpPr>
        <p:spPr>
          <a:xfrm>
            <a:off x="7448550" y="30289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4" name="HUD Text"/>
          <p:cNvSpPr txBox="1"/>
          <p:nvPr/>
        </p:nvSpPr>
        <p:spPr>
          <a:xfrm>
            <a:off x="4699000" y="3200400"/>
            <a:ext cx="27940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800" b="1" dirty="0">
                <a:solidFill>
                  <a:srgbClr val="FF3D81"/>
                </a:solidFill>
                <a:latin typeface="Rubik"/>
                <a:ea typeface="Rubik"/>
                <a:cs typeface="Rubik"/>
              </a:rPr>
              <a:t>AI Gateway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JetBrains Mono"/>
                <a:ea typeface="JetBrains Mono"/>
                <a:cs typeface="JetBrains Mono"/>
              </a:rPr>
              <a:t>→ Workers AI（LLM）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JetBrains Mono"/>
                <a:ea typeface="JetBrains Mono"/>
                <a:cs typeface="JetBrains Mono"/>
              </a:rPr>
              <a:t>THREAT: YES / NO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JetBrains Mono"/>
                <a:ea typeface="JetBrains Mono"/>
                <a:cs typeface="JetBrains Mono"/>
              </a:rPr>
              <a:t>+ 日本語コメント</a:t>
            </a:r>
          </a:p>
        </p:txBody>
      </p:sp>
      <p:sp>
        <p:nvSpPr>
          <p:cNvPr id="515" name="HUD"/>
          <p:cNvSpPr/>
          <p:nvPr/>
        </p:nvSpPr>
        <p:spPr>
          <a:xfrm>
            <a:off x="3606800" y="3784600"/>
            <a:ext cx="914400" cy="1270"/>
          </a:xfrm>
          <a:custGeom>
            <a:avLst/>
            <a:gdLst/>
            <a:ahLst/>
            <a:cxnLst/>
            <a:rect l="0" t="0" r="r" b="b"/>
            <a:pathLst>
              <a:path w="914400" h="1270" fill="none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  <a:effectLst>
            <a:glow rad="38100">
              <a:srgbClr val="2EE9FF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6" name="HUD"/>
          <p:cNvSpPr/>
          <p:nvPr/>
        </p:nvSpPr>
        <p:spPr>
          <a:xfrm>
            <a:off x="3718560" y="3479800"/>
            <a:ext cx="69088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2EE9FF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7" name="HUD Text"/>
          <p:cNvSpPr txBox="1"/>
          <p:nvPr/>
        </p:nvSpPr>
        <p:spPr>
          <a:xfrm>
            <a:off x="3718560" y="3479800"/>
            <a:ext cx="69088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1000" spc="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PROMPT</a:t>
            </a:r>
          </a:p>
        </p:txBody>
      </p:sp>
      <p:sp>
        <p:nvSpPr>
          <p:cNvPr id="518" name="HUD"/>
          <p:cNvSpPr/>
          <p:nvPr/>
        </p:nvSpPr>
        <p:spPr>
          <a:xfrm>
            <a:off x="8585200" y="2184400"/>
            <a:ext cx="2540000" cy="14224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60000"/>
              </a:srgbClr>
            </a:solidFill>
          </a:ln>
          <a:effectLst>
            <a:glow rad="101600">
              <a:srgbClr val="FF3D81">
                <a:alpha val="28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9" name="HUD"/>
          <p:cNvSpPr/>
          <p:nvPr/>
        </p:nvSpPr>
        <p:spPr>
          <a:xfrm>
            <a:off x="8559800" y="2159000"/>
            <a:ext cx="2590800" cy="1473200"/>
          </a:xfrm>
          <a:custGeom>
            <a:avLst/>
            <a:gdLst/>
            <a:ahLst/>
            <a:cxnLst/>
            <a:rect l="0" t="0" r="r" b="b"/>
            <a:pathLst>
              <a:path w="2590800" h="14732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89200" y="0"/>
                </a:moveTo>
                <a:lnTo>
                  <a:pt x="2590800" y="0"/>
                </a:lnTo>
                <a:lnTo>
                  <a:pt x="2590800" y="101600"/>
                </a:lnTo>
                <a:moveTo>
                  <a:pt x="2590800" y="1371600"/>
                </a:moveTo>
                <a:lnTo>
                  <a:pt x="2590800" y="1473200"/>
                </a:lnTo>
                <a:lnTo>
                  <a:pt x="2489200" y="1473200"/>
                </a:lnTo>
                <a:moveTo>
                  <a:pt x="101600" y="1473200"/>
                </a:moveTo>
                <a:lnTo>
                  <a:pt x="0" y="1473200"/>
                </a:lnTo>
                <a:lnTo>
                  <a:pt x="0" y="13716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0" name="HUD Text"/>
          <p:cNvSpPr txBox="1"/>
          <p:nvPr/>
        </p:nvSpPr>
        <p:spPr>
          <a:xfrm>
            <a:off x="8763000" y="23241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THREAT: YES</a:t>
            </a:r>
          </a:p>
        </p:txBody>
      </p:sp>
      <p:sp>
        <p:nvSpPr>
          <p:cNvPr id="521" name="HUD"/>
          <p:cNvSpPr/>
          <p:nvPr/>
        </p:nvSpPr>
        <p:spPr>
          <a:xfrm>
            <a:off x="10902950" y="23685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2" name="HUD Text"/>
          <p:cNvSpPr txBox="1"/>
          <p:nvPr/>
        </p:nvSpPr>
        <p:spPr>
          <a:xfrm>
            <a:off x="8763000" y="2540000"/>
            <a:ext cx="21844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重大度そのまま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バナー / フラッシュ表示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Webhook 通知</a:t>
            </a:r>
          </a:p>
        </p:txBody>
      </p:sp>
      <p:sp>
        <p:nvSpPr>
          <p:cNvPr id="523" name="HUD"/>
          <p:cNvSpPr/>
          <p:nvPr/>
        </p:nvSpPr>
        <p:spPr>
          <a:xfrm>
            <a:off x="8585200" y="4013200"/>
            <a:ext cx="2540000" cy="14224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4" name="HUD"/>
          <p:cNvSpPr/>
          <p:nvPr/>
        </p:nvSpPr>
        <p:spPr>
          <a:xfrm>
            <a:off x="8559800" y="3987800"/>
            <a:ext cx="2590800" cy="1473200"/>
          </a:xfrm>
          <a:custGeom>
            <a:avLst/>
            <a:gdLst/>
            <a:ahLst/>
            <a:cxnLst/>
            <a:rect l="0" t="0" r="r" b="b"/>
            <a:pathLst>
              <a:path w="2590800" h="14732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489200" y="0"/>
                </a:moveTo>
                <a:lnTo>
                  <a:pt x="2590800" y="0"/>
                </a:lnTo>
                <a:lnTo>
                  <a:pt x="2590800" y="101600"/>
                </a:lnTo>
                <a:moveTo>
                  <a:pt x="2590800" y="1371600"/>
                </a:moveTo>
                <a:lnTo>
                  <a:pt x="2590800" y="1473200"/>
                </a:lnTo>
                <a:lnTo>
                  <a:pt x="2489200" y="1473200"/>
                </a:lnTo>
                <a:moveTo>
                  <a:pt x="101600" y="1473200"/>
                </a:moveTo>
                <a:lnTo>
                  <a:pt x="0" y="1473200"/>
                </a:lnTo>
                <a:lnTo>
                  <a:pt x="0" y="13716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5" name="HUD Text"/>
          <p:cNvSpPr txBox="1"/>
          <p:nvPr/>
        </p:nvSpPr>
        <p:spPr>
          <a:xfrm>
            <a:off x="8763000" y="4152900"/>
            <a:ext cx="2032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THREAT: NO</a:t>
            </a:r>
          </a:p>
        </p:txBody>
      </p:sp>
      <p:sp>
        <p:nvSpPr>
          <p:cNvPr id="526" name="HUD"/>
          <p:cNvSpPr/>
          <p:nvPr/>
        </p:nvSpPr>
        <p:spPr>
          <a:xfrm>
            <a:off x="10902950" y="41973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7" name="HUD Text"/>
          <p:cNvSpPr txBox="1"/>
          <p:nvPr/>
        </p:nvSpPr>
        <p:spPr>
          <a:xfrm>
            <a:off x="8763000" y="4368800"/>
            <a:ext cx="21844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INFO へ自動格下げ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ai_dismissed として記録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15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削除せず監査用に保持</a:t>
            </a:r>
          </a:p>
        </p:txBody>
      </p:sp>
      <p:sp>
        <p:nvSpPr>
          <p:cNvPr id="528" name="HUD"/>
          <p:cNvSpPr/>
          <p:nvPr/>
        </p:nvSpPr>
        <p:spPr>
          <a:xfrm>
            <a:off x="7670800" y="2895600"/>
            <a:ext cx="914400" cy="533400"/>
          </a:xfrm>
          <a:custGeom>
            <a:avLst/>
            <a:gdLst/>
            <a:ahLst/>
            <a:cxnLst/>
            <a:rect l="0" t="0" r="r" b="b"/>
            <a:pathLst>
              <a:path w="914400" h="533400" fill="none">
                <a:moveTo>
                  <a:pt x="0" y="533400"/>
                </a:moveTo>
                <a:lnTo>
                  <a:pt x="457200" y="533400"/>
                </a:lnTo>
                <a:lnTo>
                  <a:pt x="457200" y="0"/>
                </a:lnTo>
                <a:lnTo>
                  <a:pt x="914400" y="0"/>
                </a:lnTo>
              </a:path>
            </a:pathLst>
          </a:custGeom>
          <a:noFill/>
          <a:ln w="15875">
            <a:solidFill>
              <a:srgbClr val="FF3D81"/>
            </a:solidFill>
            <a:tailEnd type="triangle" w="med" len="med"/>
          </a:ln>
          <a:effectLst>
            <a:glow rad="38100">
              <a:srgbClr val="FF3D81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9" name="HUD"/>
          <p:cNvSpPr/>
          <p:nvPr/>
        </p:nvSpPr>
        <p:spPr>
          <a:xfrm>
            <a:off x="7904480" y="3060700"/>
            <a:ext cx="44704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FF3D81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0" name="HUD Text"/>
          <p:cNvSpPr txBox="1"/>
          <p:nvPr/>
        </p:nvSpPr>
        <p:spPr>
          <a:xfrm>
            <a:off x="7904480" y="3060700"/>
            <a:ext cx="44704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1000" spc="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YES</a:t>
            </a:r>
          </a:p>
        </p:txBody>
      </p:sp>
      <p:sp>
        <p:nvSpPr>
          <p:cNvPr id="531" name="HUD"/>
          <p:cNvSpPr/>
          <p:nvPr/>
        </p:nvSpPr>
        <p:spPr>
          <a:xfrm>
            <a:off x="7670800" y="4140200"/>
            <a:ext cx="914400" cy="584200"/>
          </a:xfrm>
          <a:custGeom>
            <a:avLst/>
            <a:gdLst/>
            <a:ahLst/>
            <a:cxnLst/>
            <a:rect l="0" t="0" r="r" b="b"/>
            <a:pathLst>
              <a:path w="914400" h="584200" fill="none">
                <a:moveTo>
                  <a:pt x="0" y="0"/>
                </a:moveTo>
                <a:lnTo>
                  <a:pt x="457200" y="0"/>
                </a:lnTo>
                <a:lnTo>
                  <a:pt x="457200" y="584200"/>
                </a:lnTo>
                <a:lnTo>
                  <a:pt x="914400" y="58420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  <a:effectLst>
            <a:glow rad="38100">
              <a:srgbClr val="2EE9FF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2" name="HUD"/>
          <p:cNvSpPr/>
          <p:nvPr/>
        </p:nvSpPr>
        <p:spPr>
          <a:xfrm>
            <a:off x="7945120" y="4330700"/>
            <a:ext cx="36576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2EE9FF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3" name="HUD Text"/>
          <p:cNvSpPr txBox="1"/>
          <p:nvPr/>
        </p:nvSpPr>
        <p:spPr>
          <a:xfrm>
            <a:off x="7945120" y="4330700"/>
            <a:ext cx="36576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1000" spc="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NO</a:t>
            </a:r>
          </a:p>
        </p:txBody>
      </p:sp>
      <p:sp>
        <p:nvSpPr>
          <p:cNvPr id="534" name="HUD"/>
          <p:cNvSpPr/>
          <p:nvPr/>
        </p:nvSpPr>
        <p:spPr>
          <a:xfrm>
            <a:off x="7639050" y="33972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5" name="HUD"/>
          <p:cNvSpPr/>
          <p:nvPr/>
        </p:nvSpPr>
        <p:spPr>
          <a:xfrm>
            <a:off x="7639050" y="41084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6" name="HUD"/>
          <p:cNvSpPr/>
          <p:nvPr/>
        </p:nvSpPr>
        <p:spPr>
          <a:xfrm>
            <a:off x="4521200" y="5029200"/>
            <a:ext cx="3149600" cy="711200"/>
          </a:xfrm>
          <a:prstGeom prst="rect">
            <a:avLst/>
          </a:prstGeom>
          <a:solidFill>
            <a:srgbClr val="0E1822"/>
          </a:solidFill>
          <a:ln w="9525">
            <a:solidFill>
              <a:srgbClr val="FFB547">
                <a:alpha val="80000"/>
              </a:srgbClr>
            </a:solidFill>
            <a:prstDash val="dash"/>
          </a:ln>
        </p:spPr>
        <p:txBody>
          <a:bodyPr/>
          <a:lstStyle/>
          <a:p>
            <a:endParaRPr lang="ja-JP"/>
          </a:p>
        </p:txBody>
      </p:sp>
      <p:sp>
        <p:nvSpPr>
          <p:cNvPr id="537" name="HUD Text"/>
          <p:cNvSpPr txBox="1"/>
          <p:nvPr/>
        </p:nvSpPr>
        <p:spPr>
          <a:xfrm>
            <a:off x="4699000" y="5130800"/>
            <a:ext cx="28448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000" spc="150" dirty="0">
                <a:solidFill>
                  <a:srgbClr val="FFB547"/>
                </a:solidFill>
                <a:latin typeface="JetBrains Mono"/>
                <a:ea typeface="JetBrains Mono"/>
                <a:cs typeface="JetBrains Mono"/>
              </a:rPr>
              <a:t>FAILSAFE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ja-JP" altLang="en-US" sz="11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想定外の応答は THREAT: YES 扱い</a:t>
            </a:r>
          </a:p>
        </p:txBody>
      </p:sp>
      <p:sp>
        <p:nvSpPr>
          <p:cNvPr id="538" name="HUD"/>
          <p:cNvSpPr/>
          <p:nvPr/>
        </p:nvSpPr>
        <p:spPr>
          <a:xfrm>
            <a:off x="6096000" y="4724400"/>
            <a:ext cx="1270" cy="304800"/>
          </a:xfrm>
          <a:custGeom>
            <a:avLst/>
            <a:gdLst/>
            <a:ahLst/>
            <a:cxnLst/>
            <a:rect l="0" t="0" r="r" b="b"/>
            <a:pathLst>
              <a:path w="1270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2700">
            <a:solidFill>
              <a:srgbClr val="FFB547"/>
            </a:solidFill>
            <a:prstDash val="sysDash"/>
          </a:ln>
        </p:spPr>
        <p:txBody>
          <a:bodyPr/>
          <a:lstStyle/>
          <a:p>
            <a:endParaRPr lang="ja-JP"/>
          </a:p>
        </p:txBody>
      </p:sp>
      <p:sp>
        <p:nvSpPr>
          <p:cNvPr id="22" name="Text 17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06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3660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F3D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SUPPRESSION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「誤検知」と人が教えたものは確実に黙らせる</a:t>
            </a:r>
            <a:endParaRPr lang="en-US" sz="3200" dirty="0"/>
          </a:p>
        </p:txBody>
      </p:sp>
      <p:sp>
        <p:nvSpPr>
          <p:cNvPr id="500" name="HUD"/>
          <p:cNvSpPr/>
          <p:nvPr/>
        </p:nvSpPr>
        <p:spPr>
          <a:xfrm>
            <a:off x="812800" y="1778000"/>
            <a:ext cx="10566400" cy="4191000"/>
          </a:xfrm>
          <a:prstGeom prst="rect">
            <a:avLst/>
          </a:prstGeom>
          <a:pattFill prst="dotGrid">
            <a:fgClr>
              <a:srgbClr val="1C2A36"/>
            </a:fgClr>
            <a:bgClr>
              <a:srgbClr val="0B131C"/>
            </a:bgClr>
          </a:pattFill>
          <a:ln w="6350">
            <a:solidFill>
              <a:srgbClr val="1A273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1" name="HUD"/>
          <p:cNvSpPr/>
          <p:nvPr/>
        </p:nvSpPr>
        <p:spPr>
          <a:xfrm>
            <a:off x="812800" y="1778000"/>
            <a:ext cx="10566400" cy="4191000"/>
          </a:xfrm>
          <a:custGeom>
            <a:avLst/>
            <a:gdLst/>
            <a:ahLst/>
            <a:cxnLst/>
            <a:rect l="0" t="0" r="r" b="b"/>
            <a:pathLst>
              <a:path w="10566400" h="4191000" fill="none">
                <a:moveTo>
                  <a:pt x="0" y="177800"/>
                </a:moveTo>
                <a:lnTo>
                  <a:pt x="0" y="0"/>
                </a:lnTo>
                <a:lnTo>
                  <a:pt x="177800" y="0"/>
                </a:lnTo>
                <a:moveTo>
                  <a:pt x="10388600" y="0"/>
                </a:moveTo>
                <a:lnTo>
                  <a:pt x="10566400" y="0"/>
                </a:lnTo>
                <a:lnTo>
                  <a:pt x="10566400" y="177800"/>
                </a:lnTo>
                <a:moveTo>
                  <a:pt x="10566400" y="4013200"/>
                </a:moveTo>
                <a:lnTo>
                  <a:pt x="10566400" y="4191000"/>
                </a:lnTo>
                <a:lnTo>
                  <a:pt x="10388600" y="4191000"/>
                </a:lnTo>
                <a:moveTo>
                  <a:pt x="177800" y="4191000"/>
                </a:moveTo>
                <a:lnTo>
                  <a:pt x="0" y="4191000"/>
                </a:lnTo>
                <a:lnTo>
                  <a:pt x="0" y="4013200"/>
                </a:lnTo>
              </a:path>
            </a:pathLst>
          </a:custGeom>
          <a:noFill/>
          <a:ln w="1270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2" name="HUD Text"/>
          <p:cNvSpPr txBox="1"/>
          <p:nvPr/>
        </p:nvSpPr>
        <p:spPr>
          <a:xfrm>
            <a:off x="10668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HUMAN IN THE LOOP</a:t>
            </a:r>
          </a:p>
        </p:txBody>
      </p:sp>
      <p:sp>
        <p:nvSpPr>
          <p:cNvPr id="503" name="HUD"/>
          <p:cNvSpPr/>
          <p:nvPr/>
        </p:nvSpPr>
        <p:spPr>
          <a:xfrm>
            <a:off x="1066800" y="2235200"/>
            <a:ext cx="2133600" cy="19050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4" name="HUD"/>
          <p:cNvSpPr/>
          <p:nvPr/>
        </p:nvSpPr>
        <p:spPr>
          <a:xfrm>
            <a:off x="1041400" y="2209800"/>
            <a:ext cx="2184400" cy="1955800"/>
          </a:xfrm>
          <a:custGeom>
            <a:avLst/>
            <a:gdLst/>
            <a:ahLst/>
            <a:cxnLst/>
            <a:rect l="0" t="0" r="r" b="b"/>
            <a:pathLst>
              <a:path w="2184400" h="1955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082800" y="0"/>
                </a:moveTo>
                <a:lnTo>
                  <a:pt x="2184400" y="0"/>
                </a:lnTo>
                <a:lnTo>
                  <a:pt x="2184400" y="101600"/>
                </a:lnTo>
                <a:moveTo>
                  <a:pt x="2184400" y="1854200"/>
                </a:moveTo>
                <a:lnTo>
                  <a:pt x="2184400" y="1955800"/>
                </a:lnTo>
                <a:lnTo>
                  <a:pt x="2082800" y="1955800"/>
                </a:lnTo>
                <a:moveTo>
                  <a:pt x="101600" y="1955800"/>
                </a:moveTo>
                <a:lnTo>
                  <a:pt x="0" y="1955800"/>
                </a:lnTo>
                <a:lnTo>
                  <a:pt x="0" y="18542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5" name="HUD Text"/>
          <p:cNvSpPr txBox="1"/>
          <p:nvPr/>
        </p:nvSpPr>
        <p:spPr>
          <a:xfrm>
            <a:off x="1244600" y="23749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01 · FEED</a:t>
            </a:r>
          </a:p>
        </p:txBody>
      </p:sp>
      <p:sp>
        <p:nvSpPr>
          <p:cNvPr id="506" name="HUD"/>
          <p:cNvSpPr/>
          <p:nvPr/>
        </p:nvSpPr>
        <p:spPr>
          <a:xfrm>
            <a:off x="2978150" y="24193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07" name="HUD Text"/>
          <p:cNvSpPr txBox="1"/>
          <p:nvPr/>
        </p:nvSpPr>
        <p:spPr>
          <a:xfrm>
            <a:off x="1244600" y="2590800"/>
            <a:ext cx="1778000" cy="147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✕ 誤検知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CRITICAL / WARNING の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行にマウスを載せると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ボタンが出る</a:t>
            </a:r>
          </a:p>
        </p:txBody>
      </p:sp>
      <p:sp>
        <p:nvSpPr>
          <p:cNvPr id="508" name="HUD"/>
          <p:cNvSpPr/>
          <p:nvPr/>
        </p:nvSpPr>
        <p:spPr>
          <a:xfrm>
            <a:off x="3708400" y="2235200"/>
            <a:ext cx="2133600" cy="19050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9" name="HUD"/>
          <p:cNvSpPr/>
          <p:nvPr/>
        </p:nvSpPr>
        <p:spPr>
          <a:xfrm>
            <a:off x="3683000" y="2209800"/>
            <a:ext cx="2184400" cy="1955800"/>
          </a:xfrm>
          <a:custGeom>
            <a:avLst/>
            <a:gdLst/>
            <a:ahLst/>
            <a:cxnLst/>
            <a:rect l="0" t="0" r="r" b="b"/>
            <a:pathLst>
              <a:path w="2184400" h="1955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082800" y="0"/>
                </a:moveTo>
                <a:lnTo>
                  <a:pt x="2184400" y="0"/>
                </a:lnTo>
                <a:lnTo>
                  <a:pt x="2184400" y="101600"/>
                </a:lnTo>
                <a:moveTo>
                  <a:pt x="2184400" y="1854200"/>
                </a:moveTo>
                <a:lnTo>
                  <a:pt x="2184400" y="1955800"/>
                </a:lnTo>
                <a:lnTo>
                  <a:pt x="2082800" y="1955800"/>
                </a:lnTo>
                <a:moveTo>
                  <a:pt x="101600" y="1955800"/>
                </a:moveTo>
                <a:lnTo>
                  <a:pt x="0" y="1955800"/>
                </a:lnTo>
                <a:lnTo>
                  <a:pt x="0" y="18542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0" name="HUD Text"/>
          <p:cNvSpPr txBox="1"/>
          <p:nvPr/>
        </p:nvSpPr>
        <p:spPr>
          <a:xfrm>
            <a:off x="3886200" y="23749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02 · RULE</a:t>
            </a:r>
          </a:p>
        </p:txBody>
      </p:sp>
      <p:sp>
        <p:nvSpPr>
          <p:cNvPr id="511" name="HUD"/>
          <p:cNvSpPr/>
          <p:nvPr/>
        </p:nvSpPr>
        <p:spPr>
          <a:xfrm>
            <a:off x="5619750" y="24193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2" name="HUD Text"/>
          <p:cNvSpPr txBox="1"/>
          <p:nvPr/>
        </p:nvSpPr>
        <p:spPr>
          <a:xfrm>
            <a:off x="3886200" y="2590800"/>
            <a:ext cx="1778000" cy="147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ルール登録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カテゴリ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+ 文字列（部分一致）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+ 対象ホスト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（単体 / 全ホスト）</a:t>
            </a:r>
          </a:p>
        </p:txBody>
      </p:sp>
      <p:sp>
        <p:nvSpPr>
          <p:cNvPr id="513" name="HUD"/>
          <p:cNvSpPr/>
          <p:nvPr/>
        </p:nvSpPr>
        <p:spPr>
          <a:xfrm>
            <a:off x="6350000" y="2235200"/>
            <a:ext cx="2133600" cy="19050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60000"/>
              </a:srgbClr>
            </a:solidFill>
          </a:ln>
          <a:effectLst>
            <a:glow rad="127000">
              <a:srgbClr val="FF3D81">
                <a:alpha val="28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4" name="HUD"/>
          <p:cNvSpPr/>
          <p:nvPr/>
        </p:nvSpPr>
        <p:spPr>
          <a:xfrm>
            <a:off x="6324600" y="2209800"/>
            <a:ext cx="2184400" cy="1955800"/>
          </a:xfrm>
          <a:custGeom>
            <a:avLst/>
            <a:gdLst/>
            <a:ahLst/>
            <a:cxnLst/>
            <a:rect l="0" t="0" r="r" b="b"/>
            <a:pathLst>
              <a:path w="2184400" h="1955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082800" y="0"/>
                </a:moveTo>
                <a:lnTo>
                  <a:pt x="2184400" y="0"/>
                </a:lnTo>
                <a:lnTo>
                  <a:pt x="2184400" y="101600"/>
                </a:lnTo>
                <a:moveTo>
                  <a:pt x="2184400" y="1854200"/>
                </a:moveTo>
                <a:lnTo>
                  <a:pt x="2184400" y="1955800"/>
                </a:lnTo>
                <a:lnTo>
                  <a:pt x="2082800" y="1955800"/>
                </a:lnTo>
                <a:moveTo>
                  <a:pt x="101600" y="1955800"/>
                </a:moveTo>
                <a:lnTo>
                  <a:pt x="0" y="1955800"/>
                </a:lnTo>
                <a:lnTo>
                  <a:pt x="0" y="18542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5" name="HUD Text"/>
          <p:cNvSpPr txBox="1"/>
          <p:nvPr/>
        </p:nvSpPr>
        <p:spPr>
          <a:xfrm>
            <a:off x="6527800" y="23749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03 · INGEST</a:t>
            </a:r>
          </a:p>
        </p:txBody>
      </p:sp>
      <p:sp>
        <p:nvSpPr>
          <p:cNvPr id="516" name="HUD"/>
          <p:cNvSpPr/>
          <p:nvPr/>
        </p:nvSpPr>
        <p:spPr>
          <a:xfrm>
            <a:off x="8261350" y="2419350"/>
            <a:ext cx="63500" cy="635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508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7" name="HUD Text"/>
          <p:cNvSpPr txBox="1"/>
          <p:nvPr/>
        </p:nvSpPr>
        <p:spPr>
          <a:xfrm>
            <a:off x="6527800" y="2590800"/>
            <a:ext cx="1778000" cy="147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FF3D81"/>
                </a:solidFill>
                <a:latin typeface="Rubik"/>
                <a:ea typeface="Rubik"/>
                <a:cs typeface="Rubik"/>
              </a:rPr>
              <a:t>受信時に適用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/api/ingest/alert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AI の判定より優先</a:t>
            </a:r>
          </a:p>
        </p:txBody>
      </p:sp>
      <p:sp>
        <p:nvSpPr>
          <p:cNvPr id="518" name="HUD"/>
          <p:cNvSpPr/>
          <p:nvPr/>
        </p:nvSpPr>
        <p:spPr>
          <a:xfrm>
            <a:off x="8991600" y="2235200"/>
            <a:ext cx="2133600" cy="19050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9" name="HUD"/>
          <p:cNvSpPr/>
          <p:nvPr/>
        </p:nvSpPr>
        <p:spPr>
          <a:xfrm>
            <a:off x="8966200" y="2209800"/>
            <a:ext cx="2184400" cy="1955800"/>
          </a:xfrm>
          <a:custGeom>
            <a:avLst/>
            <a:gdLst/>
            <a:ahLst/>
            <a:cxnLst/>
            <a:rect l="0" t="0" r="r" b="b"/>
            <a:pathLst>
              <a:path w="2184400" h="1955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2082800" y="0"/>
                </a:moveTo>
                <a:lnTo>
                  <a:pt x="2184400" y="0"/>
                </a:lnTo>
                <a:lnTo>
                  <a:pt x="2184400" y="101600"/>
                </a:lnTo>
                <a:moveTo>
                  <a:pt x="2184400" y="1854200"/>
                </a:moveTo>
                <a:lnTo>
                  <a:pt x="2184400" y="1955800"/>
                </a:lnTo>
                <a:lnTo>
                  <a:pt x="2082800" y="1955800"/>
                </a:lnTo>
                <a:moveTo>
                  <a:pt x="101600" y="1955800"/>
                </a:moveTo>
                <a:lnTo>
                  <a:pt x="0" y="1955800"/>
                </a:lnTo>
                <a:lnTo>
                  <a:pt x="0" y="18542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0" name="HUD Text"/>
          <p:cNvSpPr txBox="1"/>
          <p:nvPr/>
        </p:nvSpPr>
        <p:spPr>
          <a:xfrm>
            <a:off x="9169400" y="2374900"/>
            <a:ext cx="1625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04 · RESULT</a:t>
            </a:r>
          </a:p>
        </p:txBody>
      </p:sp>
      <p:sp>
        <p:nvSpPr>
          <p:cNvPr id="521" name="HUD"/>
          <p:cNvSpPr/>
          <p:nvPr/>
        </p:nvSpPr>
        <p:spPr>
          <a:xfrm>
            <a:off x="10902950" y="24193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2" name="HUD Text"/>
          <p:cNvSpPr txBox="1"/>
          <p:nvPr/>
        </p:nvSpPr>
        <p:spPr>
          <a:xfrm>
            <a:off x="9169400" y="2590800"/>
            <a:ext cx="1778000" cy="147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5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INFO へ格下げ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suppressed: true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元の重大度は保持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→ 監査ログで追える</a:t>
            </a:r>
          </a:p>
        </p:txBody>
      </p:sp>
      <p:sp>
        <p:nvSpPr>
          <p:cNvPr id="523" name="HUD"/>
          <p:cNvSpPr/>
          <p:nvPr/>
        </p:nvSpPr>
        <p:spPr>
          <a:xfrm>
            <a:off x="3200400" y="3187700"/>
            <a:ext cx="508000" cy="1270"/>
          </a:xfrm>
          <a:custGeom>
            <a:avLst/>
            <a:gdLst/>
            <a:ahLst/>
            <a:cxnLst/>
            <a:rect l="0" t="0" r="r" b="b"/>
            <a:pathLst>
              <a:path w="508000" h="1270" fill="none">
                <a:moveTo>
                  <a:pt x="0" y="0"/>
                </a:moveTo>
                <a:lnTo>
                  <a:pt x="5080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  <a:effectLst>
            <a:glow rad="38100">
              <a:srgbClr val="2EE9FF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4" name="HUD"/>
          <p:cNvSpPr/>
          <p:nvPr/>
        </p:nvSpPr>
        <p:spPr>
          <a:xfrm>
            <a:off x="5842000" y="3187700"/>
            <a:ext cx="508000" cy="1270"/>
          </a:xfrm>
          <a:custGeom>
            <a:avLst/>
            <a:gdLst/>
            <a:ahLst/>
            <a:cxnLst/>
            <a:rect l="0" t="0" r="r" b="b"/>
            <a:pathLst>
              <a:path w="508000" h="1270" fill="none">
                <a:moveTo>
                  <a:pt x="0" y="0"/>
                </a:moveTo>
                <a:lnTo>
                  <a:pt x="508000" y="0"/>
                </a:lnTo>
              </a:path>
            </a:pathLst>
          </a:custGeom>
          <a:noFill/>
          <a:ln w="15875">
            <a:solidFill>
              <a:srgbClr val="FF3D81"/>
            </a:solidFill>
            <a:tailEnd type="triangle" w="med" len="med"/>
          </a:ln>
          <a:effectLst>
            <a:glow rad="38100">
              <a:srgbClr val="FF3D81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5" name="HUD"/>
          <p:cNvSpPr/>
          <p:nvPr/>
        </p:nvSpPr>
        <p:spPr>
          <a:xfrm>
            <a:off x="8483600" y="3187700"/>
            <a:ext cx="508000" cy="1270"/>
          </a:xfrm>
          <a:custGeom>
            <a:avLst/>
            <a:gdLst/>
            <a:ahLst/>
            <a:cxnLst/>
            <a:rect l="0" t="0" r="r" b="b"/>
            <a:pathLst>
              <a:path w="508000" h="1270" fill="none">
                <a:moveTo>
                  <a:pt x="0" y="0"/>
                </a:moveTo>
                <a:lnTo>
                  <a:pt x="5080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  <a:effectLst>
            <a:glow rad="38100">
              <a:srgbClr val="2EE9FF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6" name="HUD"/>
          <p:cNvSpPr/>
          <p:nvPr/>
        </p:nvSpPr>
        <p:spPr>
          <a:xfrm>
            <a:off x="1066800" y="4445000"/>
            <a:ext cx="4927600" cy="12192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6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7" name="HUD Text"/>
          <p:cNvSpPr txBox="1"/>
          <p:nvPr/>
        </p:nvSpPr>
        <p:spPr>
          <a:xfrm>
            <a:off x="1270000" y="4445000"/>
            <a:ext cx="4572000" cy="121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WEBUI ONLY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ja-JP" altLang="en-US" sz="13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webui 側で完結、agent の再デプロイは不要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SUPPRESSION RULES パネルで一覧・削除</a:t>
            </a:r>
          </a:p>
        </p:txBody>
      </p:sp>
      <p:sp>
        <p:nvSpPr>
          <p:cNvPr id="528" name="HUD"/>
          <p:cNvSpPr/>
          <p:nvPr/>
        </p:nvSpPr>
        <p:spPr>
          <a:xfrm>
            <a:off x="6197600" y="4445000"/>
            <a:ext cx="4927600" cy="1219200"/>
          </a:xfrm>
          <a:prstGeom prst="rect">
            <a:avLst/>
          </a:prstGeom>
          <a:solidFill>
            <a:srgbClr val="0E1822"/>
          </a:solidFill>
          <a:ln w="9525">
            <a:solidFill>
              <a:srgbClr val="FFB547">
                <a:alpha val="80000"/>
              </a:srgbClr>
            </a:solidFill>
            <a:prstDash val="dash"/>
          </a:ln>
        </p:spPr>
        <p:txBody>
          <a:bodyPr/>
          <a:lstStyle/>
          <a:p>
            <a:endParaRPr lang="ja-JP"/>
          </a:p>
        </p:txBody>
      </p:sp>
      <p:sp>
        <p:nvSpPr>
          <p:cNvPr id="529" name="HUD Text"/>
          <p:cNvSpPr txBox="1"/>
          <p:nvPr/>
        </p:nvSpPr>
        <p:spPr>
          <a:xfrm>
            <a:off x="6400800" y="4445000"/>
            <a:ext cx="4572000" cy="1219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1000" spc="150" dirty="0">
                <a:solidFill>
                  <a:srgbClr val="FFB547"/>
                </a:solidFill>
                <a:latin typeface="JetBrains Mono"/>
                <a:ea typeface="JetBrains Mono"/>
                <a:cs typeface="JetBrains Mono"/>
              </a:rPr>
              <a:t>NOTE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ja-JP" altLang="en-US" sz="13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Cloudflare への呼び出し回数は減らない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恒久対策は config.yaml のホワイトリストで</a:t>
            </a:r>
          </a:p>
        </p:txBody>
      </p:sp>
      <p:sp>
        <p:nvSpPr>
          <p:cNvPr id="22" name="Text 17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07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6075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サイバーパンクな見た目、ちゃんと作り込みました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8026400" y="2489200"/>
            <a:ext cx="33528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9EC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瞬きするアイ・ロゴ、パーティクル背景、細いスキャンライン演出</a:t>
            </a:r>
            <a:endParaRPr lang="en-US" sz="1300" dirty="0"/>
          </a:p>
        </p:txBody>
      </p:sp>
      <p:pic>
        <p:nvPicPr>
          <p:cNvPr id="24" name="Image 1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0800" y="3378200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026400" y="33528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9EC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CRITICAL検知時は画面全体がフラッシュ</a:t>
            </a:r>
            <a:endParaRPr lang="en-US" sz="1300" dirty="0"/>
          </a:p>
        </p:txBody>
      </p:sp>
      <p:pic>
        <p:nvPicPr>
          <p:cNvPr id="26" name="Image 2" descr="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70800" y="411480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26400" y="40894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9EC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全ホスト平均のCPU波形・カテゴリ別スパークライン</a:t>
            </a:r>
            <a:endParaRPr lang="en-US" sz="1300" dirty="0"/>
          </a:p>
        </p:txBody>
      </p:sp>
      <p:pic>
        <p:nvPicPr>
          <p:cNvPr id="28" name="Image 3" descr="Search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70800" y="485140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026400" y="482600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D9EC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統計カードクリックで重大度/カテゴリ別に即フィルタ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08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41" name="Eye Outline"/>
            <p:cNvSpPr/>
            <p:nvPr/>
          </p:nvSpPr>
          <p:spPr>
            <a:xfrm>
              <a:off x="7670800" y="2540000"/>
              <a:ext cx="254000" cy="127000"/>
            </a:xfrm>
            <a:custGeom>
              <a:avLst/>
              <a:gdLst/>
              <a:ahLst/>
              <a:cxnLst/>
              <a:rect l="0" t="0" r="r" b="b"/>
              <a:pathLst>
                <a:path w="254000" h="127000">
                  <a:moveTo>
                    <a:pt x="0" y="63500"/>
                  </a:moveTo>
                  <a:cubicBezTo>
                    <a:pt x="76200" y="-21167"/>
                    <a:pt x="177800" y="-21167"/>
                    <a:pt x="254000" y="63500"/>
                  </a:cubicBezTo>
                  <a:cubicBezTo>
                    <a:pt x="177800" y="148167"/>
                    <a:pt x="76200" y="148167"/>
                    <a:pt x="0" y="635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100000"/>
                </a:srgbClr>
              </a:solidFill>
              <a:round/>
            </a:ln>
            <a:effectLst>
              <a:outerShdw blurRad="2540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42" name="Eye Iris"/>
            <p:cNvSpPr/>
            <p:nvPr/>
          </p:nvSpPr>
          <p:spPr>
            <a:xfrm>
              <a:off x="7758430" y="2564130"/>
              <a:ext cx="78740" cy="78740"/>
            </a:xfrm>
            <a:prstGeom prst="ellipse">
              <a:avLst/>
            </a:prstGeom>
            <a:solidFill>
              <a:srgbClr val="2EE9FF">
                <a:alpha val="12000"/>
              </a:srgbClr>
            </a:solidFill>
            <a:ln w="12700">
              <a:solidFill>
                <a:srgbClr val="2EE9FF">
                  <a:alpha val="100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3" name="Eye Pupil"/>
            <p:cNvSpPr/>
            <p:nvPr/>
          </p:nvSpPr>
          <p:spPr>
            <a:xfrm>
              <a:off x="7781290" y="2586990"/>
              <a:ext cx="33020" cy="33020"/>
            </a:xfrm>
            <a:prstGeom prst="ellipse">
              <a:avLst/>
            </a:prstGeom>
            <a:solidFill>
              <a:srgbClr val="2EE9FF">
                <a:alpha val="100000"/>
              </a:srgbClr>
            </a:solidFill>
            <a:ln>
              <a:noFill/>
            </a:ln>
            <a:effectLst>
              <a:outerShdw blurRad="3175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Dashboard Screenshot" descr="SENTINEL ダッシュボードの実際の画面">
            <a:extLst>
              <a:ext uri="{FF2B5EF4-FFF2-40B4-BE49-F238E27FC236}">
                <a16:creationId xmlns:a16="http://schemas.microsoft.com/office/drawing/2014/main" id="{5ACD0E54-E56C-34CA-59E2-40AC0DDD93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800" y="2286000"/>
            <a:ext cx="6502400" cy="3235070"/>
          </a:xfrm>
          <a:prstGeom prst="rect">
            <a:avLst/>
          </a:prstGeom>
          <a:ln w="9525">
            <a:solidFill>
              <a:srgbClr val="2EE9FF">
                <a:alpha val="55000"/>
              </a:srgbClr>
            </a:solidFill>
          </a:ln>
          <a:effectLst>
            <a:glow rad="127000">
              <a:srgbClr val="2EE9FF">
                <a:alpha val="18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893982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F3D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FIELD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運用したら、いきなり「改ざん」検知</a:t>
            </a:r>
            <a:endParaRPr lang="en-US" sz="3200" dirty="0"/>
          </a:p>
        </p:txBody>
      </p:sp>
      <p:sp>
        <p:nvSpPr>
          <p:cNvPr id="500" name="HUD"/>
          <p:cNvSpPr/>
          <p:nvPr/>
        </p:nvSpPr>
        <p:spPr>
          <a:xfrm>
            <a:off x="812800" y="1778000"/>
            <a:ext cx="10566400" cy="4191000"/>
          </a:xfrm>
          <a:prstGeom prst="rect">
            <a:avLst/>
          </a:prstGeom>
          <a:pattFill prst="dotGrid">
            <a:fgClr>
              <a:srgbClr val="1C2A36"/>
            </a:fgClr>
            <a:bgClr>
              <a:srgbClr val="0B131C"/>
            </a:bgClr>
          </a:pattFill>
          <a:ln w="6350">
            <a:solidFill>
              <a:srgbClr val="1A273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1" name="HUD"/>
          <p:cNvSpPr/>
          <p:nvPr/>
        </p:nvSpPr>
        <p:spPr>
          <a:xfrm>
            <a:off x="812800" y="1778000"/>
            <a:ext cx="10566400" cy="4191000"/>
          </a:xfrm>
          <a:custGeom>
            <a:avLst/>
            <a:gdLst/>
            <a:ahLst/>
            <a:cxnLst/>
            <a:rect l="0" t="0" r="r" b="b"/>
            <a:pathLst>
              <a:path w="10566400" h="4191000" fill="none">
                <a:moveTo>
                  <a:pt x="0" y="177800"/>
                </a:moveTo>
                <a:lnTo>
                  <a:pt x="0" y="0"/>
                </a:lnTo>
                <a:lnTo>
                  <a:pt x="177800" y="0"/>
                </a:lnTo>
                <a:moveTo>
                  <a:pt x="10388600" y="0"/>
                </a:moveTo>
                <a:lnTo>
                  <a:pt x="10566400" y="0"/>
                </a:lnTo>
                <a:lnTo>
                  <a:pt x="10566400" y="177800"/>
                </a:lnTo>
                <a:moveTo>
                  <a:pt x="10566400" y="4013200"/>
                </a:moveTo>
                <a:lnTo>
                  <a:pt x="10566400" y="4191000"/>
                </a:lnTo>
                <a:lnTo>
                  <a:pt x="10388600" y="4191000"/>
                </a:lnTo>
                <a:moveTo>
                  <a:pt x="177800" y="4191000"/>
                </a:moveTo>
                <a:lnTo>
                  <a:pt x="0" y="4191000"/>
                </a:lnTo>
                <a:lnTo>
                  <a:pt x="0" y="4013200"/>
                </a:lnTo>
              </a:path>
            </a:pathLst>
          </a:custGeom>
          <a:noFill/>
          <a:ln w="1270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2" name="HUD Text"/>
          <p:cNvSpPr txBox="1"/>
          <p:nvPr/>
        </p:nvSpPr>
        <p:spPr>
          <a:xfrm>
            <a:off x="10668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ALERT</a:t>
            </a:r>
          </a:p>
        </p:txBody>
      </p:sp>
      <p:sp>
        <p:nvSpPr>
          <p:cNvPr id="503" name="HUD Text"/>
          <p:cNvSpPr txBox="1"/>
          <p:nvPr/>
        </p:nvSpPr>
        <p:spPr>
          <a:xfrm>
            <a:off x="66040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ROOT CAUSE</a:t>
            </a:r>
          </a:p>
        </p:txBody>
      </p:sp>
      <p:sp>
        <p:nvSpPr>
          <p:cNvPr id="504" name="HUD"/>
          <p:cNvSpPr/>
          <p:nvPr/>
        </p:nvSpPr>
        <p:spPr>
          <a:xfrm>
            <a:off x="1066800" y="2184400"/>
            <a:ext cx="4826000" cy="2032000"/>
          </a:xfrm>
          <a:prstGeom prst="rect">
            <a:avLst/>
          </a:prstGeom>
          <a:solidFill>
            <a:srgbClr val="140E18"/>
          </a:solidFill>
          <a:ln w="9525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5" name="HUD"/>
          <p:cNvSpPr/>
          <p:nvPr/>
        </p:nvSpPr>
        <p:spPr>
          <a:xfrm>
            <a:off x="1066800" y="2184400"/>
            <a:ext cx="4826000" cy="20320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60000"/>
              </a:srgbClr>
            </a:solidFill>
          </a:ln>
          <a:effectLst>
            <a:glow rad="152400">
              <a:srgbClr val="FF3D81">
                <a:alpha val="26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06" name="HUD"/>
          <p:cNvSpPr/>
          <p:nvPr/>
        </p:nvSpPr>
        <p:spPr>
          <a:xfrm>
            <a:off x="1041400" y="2159000"/>
            <a:ext cx="4876800" cy="2082800"/>
          </a:xfrm>
          <a:custGeom>
            <a:avLst/>
            <a:gdLst/>
            <a:ahLst/>
            <a:cxnLst/>
            <a:rect l="0" t="0" r="r" b="b"/>
            <a:pathLst>
              <a:path w="4876800" h="2082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4775200" y="0"/>
                </a:moveTo>
                <a:lnTo>
                  <a:pt x="4876800" y="0"/>
                </a:lnTo>
                <a:lnTo>
                  <a:pt x="4876800" y="101600"/>
                </a:lnTo>
                <a:moveTo>
                  <a:pt x="4876800" y="1981200"/>
                </a:moveTo>
                <a:lnTo>
                  <a:pt x="4876800" y="2082800"/>
                </a:lnTo>
                <a:lnTo>
                  <a:pt x="4775200" y="2082800"/>
                </a:lnTo>
                <a:moveTo>
                  <a:pt x="101600" y="2082800"/>
                </a:moveTo>
                <a:lnTo>
                  <a:pt x="0" y="2082800"/>
                </a:lnTo>
                <a:lnTo>
                  <a:pt x="0" y="1981200"/>
                </a:lnTo>
              </a:path>
            </a:pathLst>
          </a:custGeom>
          <a:noFill/>
          <a:ln w="19050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7" name="HUD Text"/>
          <p:cNvSpPr txBox="1"/>
          <p:nvPr/>
        </p:nvSpPr>
        <p:spPr>
          <a:xfrm>
            <a:off x="1270000" y="231140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0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CRITICAL · integrity_watch · client1</a:t>
            </a:r>
          </a:p>
        </p:txBody>
      </p:sp>
      <p:sp>
        <p:nvSpPr>
          <p:cNvPr id="508" name="HUD Text"/>
          <p:cNvSpPr txBox="1"/>
          <p:nvPr/>
        </p:nvSpPr>
        <p:spPr>
          <a:xfrm>
            <a:off x="1270000" y="2590800"/>
            <a:ext cx="4419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2000" b="1" spc="100" dirty="0">
                <a:solidFill>
                  <a:srgbClr val="EAFFFB"/>
                </a:solidFill>
                <a:latin typeface="JetBrains Mono"/>
                <a:ea typeface="JetBrains Mono"/>
                <a:cs typeface="JetBrains Mono"/>
              </a:rPr>
              <a:t>HASH MISMATCH</a:t>
            </a:r>
          </a:p>
        </p:txBody>
      </p:sp>
      <p:sp>
        <p:nvSpPr>
          <p:cNvPr id="509" name="HUD Text"/>
          <p:cNvSpPr txBox="1"/>
          <p:nvPr/>
        </p:nvSpPr>
        <p:spPr>
          <a:xfrm>
            <a:off x="1270000" y="3022600"/>
            <a:ext cx="4419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ファイル改ざんの疑い</a:t>
            </a:r>
          </a:p>
        </p:txBody>
      </p:sp>
      <p:sp>
        <p:nvSpPr>
          <p:cNvPr id="510" name="HUD"/>
          <p:cNvSpPr/>
          <p:nvPr/>
        </p:nvSpPr>
        <p:spPr>
          <a:xfrm>
            <a:off x="1270000" y="3327400"/>
            <a:ext cx="4419600" cy="330200"/>
          </a:xfrm>
          <a:prstGeom prst="rect">
            <a:avLst/>
          </a:prstGeom>
          <a:solidFill>
            <a:srgbClr val="0B0F14"/>
          </a:solidFill>
          <a:ln w="6350">
            <a:solidFill>
              <a:srgbClr val="2A1E2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1" name="HUD Text"/>
          <p:cNvSpPr txBox="1"/>
          <p:nvPr/>
        </p:nvSpPr>
        <p:spPr>
          <a:xfrm>
            <a:off x="1397000" y="3327400"/>
            <a:ext cx="4191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50" dirty="0">
                <a:solidFill>
                  <a:srgbClr val="8FA3B0"/>
                </a:solidFill>
                <a:latin typeface="JetBrains Mono"/>
                <a:ea typeface="JetBrains Mono"/>
                <a:cs typeface="JetBrains Mono"/>
              </a:rPr>
              <a:t>/hostfs/etc/cups/subscriptions.conf</a:t>
            </a:r>
          </a:p>
        </p:txBody>
      </p:sp>
      <p:sp>
        <p:nvSpPr>
          <p:cNvPr id="512" name="HUD Text"/>
          <p:cNvSpPr txBox="1"/>
          <p:nvPr/>
        </p:nvSpPr>
        <p:spPr>
          <a:xfrm>
            <a:off x="1270000" y="3784600"/>
            <a:ext cx="44196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b="1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AI › </a:t>
            </a:r>
            <a:r>
              <a:rPr lang="ja-JP" altLang="en-US" sz="1200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「緊急に確認する必要があります」</a:t>
            </a:r>
          </a:p>
        </p:txBody>
      </p:sp>
      <p:sp>
        <p:nvSpPr>
          <p:cNvPr id="513" name="HUD"/>
          <p:cNvSpPr/>
          <p:nvPr/>
        </p:nvSpPr>
        <p:spPr>
          <a:xfrm>
            <a:off x="5892800" y="3200400"/>
            <a:ext cx="711200" cy="1270"/>
          </a:xfrm>
          <a:custGeom>
            <a:avLst/>
            <a:gdLst/>
            <a:ahLst/>
            <a:cxnLst/>
            <a:rect l="0" t="0" r="r" b="b"/>
            <a:pathLst>
              <a:path w="711200" h="1270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  <a:effectLst>
            <a:glow rad="38100">
              <a:srgbClr val="2EE9FF">
                <a:alpha val="35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4" name="HUD"/>
          <p:cNvSpPr/>
          <p:nvPr/>
        </p:nvSpPr>
        <p:spPr>
          <a:xfrm>
            <a:off x="6065520" y="2895600"/>
            <a:ext cx="36576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2EE9FF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5" name="HUD Text"/>
          <p:cNvSpPr txBox="1"/>
          <p:nvPr/>
        </p:nvSpPr>
        <p:spPr>
          <a:xfrm>
            <a:off x="6065520" y="2895600"/>
            <a:ext cx="36576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調査</a:t>
            </a:r>
          </a:p>
        </p:txBody>
      </p:sp>
      <p:sp>
        <p:nvSpPr>
          <p:cNvPr id="516" name="HUD"/>
          <p:cNvSpPr/>
          <p:nvPr/>
        </p:nvSpPr>
        <p:spPr>
          <a:xfrm>
            <a:off x="6604000" y="2184400"/>
            <a:ext cx="4521200" cy="20320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60000"/>
              </a:srgbClr>
            </a:solidFill>
          </a:ln>
          <a:effectLst>
            <a:glow rad="101600">
              <a:srgbClr val="2EE9FF">
                <a:alpha val="28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7" name="HUD"/>
          <p:cNvSpPr/>
          <p:nvPr/>
        </p:nvSpPr>
        <p:spPr>
          <a:xfrm>
            <a:off x="6578600" y="2159000"/>
            <a:ext cx="4572000" cy="2082800"/>
          </a:xfrm>
          <a:custGeom>
            <a:avLst/>
            <a:gdLst/>
            <a:ahLst/>
            <a:cxnLst/>
            <a:rect l="0" t="0" r="r" b="b"/>
            <a:pathLst>
              <a:path w="4572000" h="2082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4470400" y="0"/>
                </a:moveTo>
                <a:lnTo>
                  <a:pt x="4572000" y="0"/>
                </a:lnTo>
                <a:lnTo>
                  <a:pt x="4572000" y="101600"/>
                </a:lnTo>
                <a:moveTo>
                  <a:pt x="4572000" y="1981200"/>
                </a:moveTo>
                <a:lnTo>
                  <a:pt x="4572000" y="2082800"/>
                </a:lnTo>
                <a:lnTo>
                  <a:pt x="4470400" y="2082800"/>
                </a:lnTo>
                <a:moveTo>
                  <a:pt x="101600" y="2082800"/>
                </a:moveTo>
                <a:lnTo>
                  <a:pt x="0" y="2082800"/>
                </a:lnTo>
                <a:lnTo>
                  <a:pt x="0" y="19812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8" name="HUD Text"/>
          <p:cNvSpPr txBox="1"/>
          <p:nvPr/>
        </p:nvSpPr>
        <p:spPr>
          <a:xfrm>
            <a:off x="6781800" y="2324100"/>
            <a:ext cx="40132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CUPS · 正常動作</a:t>
            </a:r>
          </a:p>
        </p:txBody>
      </p:sp>
      <p:sp>
        <p:nvSpPr>
          <p:cNvPr id="519" name="HUD"/>
          <p:cNvSpPr/>
          <p:nvPr/>
        </p:nvSpPr>
        <p:spPr>
          <a:xfrm>
            <a:off x="10902950" y="23685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0" name="HUD Text"/>
          <p:cNvSpPr txBox="1"/>
          <p:nvPr/>
        </p:nvSpPr>
        <p:spPr>
          <a:xfrm>
            <a:off x="6781800" y="2540000"/>
            <a:ext cx="4165600" cy="1600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7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プリンターの購読状態ファイル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350" dirty="0">
                <a:solidFill>
                  <a:srgbClr val="B8C7D1"/>
                </a:solidFill>
                <a:latin typeface="Rubik"/>
                <a:ea typeface="Rubik"/>
                <a:cs typeface="Rubik"/>
              </a:rPr>
              <a:t>CUPS が通常運用で自動的に書き換える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350" dirty="0">
                <a:solidFill>
                  <a:srgbClr val="B8C7D1"/>
                </a:solidFill>
                <a:latin typeface="Rubik"/>
                <a:ea typeface="Rubik"/>
                <a:cs typeface="Rubik"/>
              </a:rPr>
              <a:t>設定ファイルが、監視対象の配下にあった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350" dirty="0">
                <a:solidFill>
                  <a:srgbClr val="B8C7D1"/>
                </a:solidFill>
                <a:latin typeface="Rubik"/>
                <a:ea typeface="Rubik"/>
                <a:cs typeface="Rubik"/>
              </a:rPr>
              <a:t>→ 侵入の痕跡ではなかった</a:t>
            </a:r>
          </a:p>
        </p:txBody>
      </p:sp>
      <p:sp>
        <p:nvSpPr>
          <p:cNvPr id="521" name="HUD"/>
          <p:cNvSpPr/>
          <p:nvPr/>
        </p:nvSpPr>
        <p:spPr>
          <a:xfrm>
            <a:off x="1066800" y="4724400"/>
            <a:ext cx="10058400" cy="1270"/>
          </a:xfrm>
          <a:custGeom>
            <a:avLst/>
            <a:gdLst/>
            <a:ahLst/>
            <a:cxnLst/>
            <a:rect l="0" t="0" r="r" b="b"/>
            <a:pathLst>
              <a:path w="10058400" h="1270" fill="none">
                <a:moveTo>
                  <a:pt x="0" y="0"/>
                </a:moveTo>
                <a:lnTo>
                  <a:pt x="10058400" y="0"/>
                </a:lnTo>
              </a:path>
            </a:pathLst>
          </a:custGeom>
          <a:noFill/>
          <a:ln w="1270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2" name="HUD"/>
          <p:cNvSpPr/>
          <p:nvPr/>
        </p:nvSpPr>
        <p:spPr>
          <a:xfrm>
            <a:off x="1117600" y="4673600"/>
            <a:ext cx="101600" cy="101600"/>
          </a:xfrm>
          <a:prstGeom prst="ellipse">
            <a:avLst/>
          </a:prstGeom>
          <a:solidFill>
            <a:srgbClr val="FF3D81"/>
          </a:solidFill>
          <a:ln>
            <a:noFill/>
          </a:ln>
          <a:effectLst>
            <a:glow rad="76200">
              <a:srgbClr val="FF3D81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3" name="HUD Text"/>
          <p:cNvSpPr txBox="1"/>
          <p:nvPr/>
        </p:nvSpPr>
        <p:spPr>
          <a:xfrm>
            <a:off x="1346200" y="4597400"/>
            <a:ext cx="2921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01 · DETECT</a:t>
            </a:r>
          </a:p>
        </p:txBody>
      </p:sp>
      <p:sp>
        <p:nvSpPr>
          <p:cNvPr id="524" name="HUD"/>
          <p:cNvSpPr/>
          <p:nvPr/>
        </p:nvSpPr>
        <p:spPr>
          <a:xfrm>
            <a:off x="1066800" y="4953000"/>
            <a:ext cx="3149600" cy="762000"/>
          </a:xfrm>
          <a:prstGeom prst="rect">
            <a:avLst/>
          </a:prstGeom>
          <a:solidFill>
            <a:srgbClr val="0E1822"/>
          </a:solidFill>
          <a:ln w="635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5" name="HUD"/>
          <p:cNvSpPr/>
          <p:nvPr/>
        </p:nvSpPr>
        <p:spPr>
          <a:xfrm>
            <a:off x="1066800" y="4953000"/>
            <a:ext cx="38100" cy="762000"/>
          </a:xfrm>
          <a:prstGeom prst="rect">
            <a:avLst/>
          </a:prstGeom>
          <a:solidFill>
            <a:srgbClr val="FF3D81"/>
          </a:solidFill>
          <a:ln w="3175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6" name="HUD Text"/>
          <p:cNvSpPr txBox="1"/>
          <p:nvPr/>
        </p:nvSpPr>
        <p:spPr>
          <a:xfrm>
            <a:off x="1270000" y="4953000"/>
            <a:ext cx="2844800" cy="76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ハッシュ不一致で CRITICAL</a:t>
            </a:r>
          </a:p>
        </p:txBody>
      </p:sp>
      <p:sp>
        <p:nvSpPr>
          <p:cNvPr id="527" name="HUD"/>
          <p:cNvSpPr/>
          <p:nvPr/>
        </p:nvSpPr>
        <p:spPr>
          <a:xfrm>
            <a:off x="4572000" y="4673600"/>
            <a:ext cx="101600" cy="1016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762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8" name="HUD Text"/>
          <p:cNvSpPr txBox="1"/>
          <p:nvPr/>
        </p:nvSpPr>
        <p:spPr>
          <a:xfrm>
            <a:off x="4800600" y="4597400"/>
            <a:ext cx="2921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02 · INVESTIGATE</a:t>
            </a:r>
          </a:p>
        </p:txBody>
      </p:sp>
      <p:sp>
        <p:nvSpPr>
          <p:cNvPr id="529" name="HUD"/>
          <p:cNvSpPr/>
          <p:nvPr/>
        </p:nvSpPr>
        <p:spPr>
          <a:xfrm>
            <a:off x="4521200" y="4953000"/>
            <a:ext cx="3149600" cy="762000"/>
          </a:xfrm>
          <a:prstGeom prst="rect">
            <a:avLst/>
          </a:prstGeom>
          <a:solidFill>
            <a:srgbClr val="0E1822"/>
          </a:solidFill>
          <a:ln w="635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0" name="HUD"/>
          <p:cNvSpPr/>
          <p:nvPr/>
        </p:nvSpPr>
        <p:spPr>
          <a:xfrm>
            <a:off x="4521200" y="4953000"/>
            <a:ext cx="38100" cy="762000"/>
          </a:xfrm>
          <a:prstGeom prst="rect">
            <a:avLst/>
          </a:prstGeom>
          <a:solidFill>
            <a:srgbClr val="2EE9FF"/>
          </a:solidFill>
          <a:ln w="31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1" name="HUD Text"/>
          <p:cNvSpPr txBox="1"/>
          <p:nvPr/>
        </p:nvSpPr>
        <p:spPr>
          <a:xfrm>
            <a:off x="4724400" y="4953000"/>
            <a:ext cx="2844800" cy="76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書き換えたのは CUPS 本体</a:t>
            </a:r>
          </a:p>
        </p:txBody>
      </p:sp>
      <p:sp>
        <p:nvSpPr>
          <p:cNvPr id="532" name="HUD"/>
          <p:cNvSpPr/>
          <p:nvPr/>
        </p:nvSpPr>
        <p:spPr>
          <a:xfrm>
            <a:off x="8026400" y="4673600"/>
            <a:ext cx="101600" cy="1016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762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33" name="HUD Text"/>
          <p:cNvSpPr txBox="1"/>
          <p:nvPr/>
        </p:nvSpPr>
        <p:spPr>
          <a:xfrm>
            <a:off x="8255000" y="4597400"/>
            <a:ext cx="29210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03 · FIX</a:t>
            </a:r>
          </a:p>
        </p:txBody>
      </p:sp>
      <p:sp>
        <p:nvSpPr>
          <p:cNvPr id="534" name="HUD"/>
          <p:cNvSpPr/>
          <p:nvPr/>
        </p:nvSpPr>
        <p:spPr>
          <a:xfrm>
            <a:off x="7975600" y="4953000"/>
            <a:ext cx="3149600" cy="762000"/>
          </a:xfrm>
          <a:prstGeom prst="rect">
            <a:avLst/>
          </a:prstGeom>
          <a:solidFill>
            <a:srgbClr val="0E1822"/>
          </a:solidFill>
          <a:ln w="6350">
            <a:solidFill>
              <a:srgbClr val="1E2B3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5" name="HUD"/>
          <p:cNvSpPr/>
          <p:nvPr/>
        </p:nvSpPr>
        <p:spPr>
          <a:xfrm>
            <a:off x="7975600" y="4953000"/>
            <a:ext cx="38100" cy="762000"/>
          </a:xfrm>
          <a:prstGeom prst="rect">
            <a:avLst/>
          </a:prstGeom>
          <a:solidFill>
            <a:srgbClr val="2EE9FF"/>
          </a:solidFill>
          <a:ln w="31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6" name="HUD Text"/>
          <p:cNvSpPr txBox="1"/>
          <p:nvPr/>
        </p:nvSpPr>
        <p:spPr>
          <a:xfrm>
            <a:off x="8178800" y="4953000"/>
            <a:ext cx="2844800" cy="76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exclude_patterns に追加</a:t>
            </a:r>
          </a:p>
        </p:txBody>
      </p:sp>
      <p:sp>
        <p:nvSpPr>
          <p:cNvPr id="15" name="Text 11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09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HUD"/>
          <p:cNvSpPr/>
          <p:nvPr/>
        </p:nvSpPr>
        <p:spPr>
          <a:xfrm>
            <a:off x="6807200" y="3708400"/>
            <a:ext cx="4114800" cy="330200"/>
          </a:xfrm>
          <a:prstGeom prst="rect">
            <a:avLst/>
          </a:prstGeom>
          <a:solidFill>
            <a:srgbClr val="0B131C"/>
          </a:solidFill>
          <a:ln w="6350">
            <a:solidFill>
              <a:srgbClr val="1E3A44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" name="HUD Text"/>
          <p:cNvSpPr txBox="1"/>
          <p:nvPr/>
        </p:nvSpPr>
        <p:spPr>
          <a:xfrm>
            <a:off x="6934200" y="3708400"/>
            <a:ext cx="3937000" cy="330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100" b="1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VERDICT › </a:t>
            </a:r>
            <a:r>
              <a:rPr lang="ja-JP" altLang="en-US" sz="12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誤検知（FALSE POSITIVE）</a:t>
            </a:r>
          </a:p>
        </p:txBody>
      </p:sp>
    </p:spTree>
    <p:extLst>
      <p:ext uri="{BB962C8B-B14F-4D97-AF65-F5344CB8AC3E}">
        <p14:creationId xmlns:p14="http://schemas.microsoft.com/office/powerpoint/2010/main" val="10917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FF3D8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LESSONS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運用で踏んだ5つのバグと直し方</a:t>
            </a:r>
            <a:endParaRPr lang="en-US" sz="3200" dirty="0"/>
          </a:p>
        </p:txBody>
      </p:sp>
      <p:sp>
        <p:nvSpPr>
          <p:cNvPr id="500" name="HUD"/>
          <p:cNvSpPr/>
          <p:nvPr/>
        </p:nvSpPr>
        <p:spPr>
          <a:xfrm>
            <a:off x="812800" y="1778000"/>
            <a:ext cx="10566400" cy="4191000"/>
          </a:xfrm>
          <a:prstGeom prst="rect">
            <a:avLst/>
          </a:prstGeom>
          <a:pattFill prst="dotGrid">
            <a:fgClr>
              <a:srgbClr val="1C2A36"/>
            </a:fgClr>
            <a:bgClr>
              <a:srgbClr val="0B131C"/>
            </a:bgClr>
          </a:pattFill>
          <a:ln w="6350">
            <a:solidFill>
              <a:srgbClr val="1A273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1" name="HUD"/>
          <p:cNvSpPr/>
          <p:nvPr/>
        </p:nvSpPr>
        <p:spPr>
          <a:xfrm>
            <a:off x="812800" y="1778000"/>
            <a:ext cx="10566400" cy="4191000"/>
          </a:xfrm>
          <a:custGeom>
            <a:avLst/>
            <a:gdLst/>
            <a:ahLst/>
            <a:cxnLst/>
            <a:rect l="0" t="0" r="r" b="b"/>
            <a:pathLst>
              <a:path w="10566400" h="4191000" fill="none">
                <a:moveTo>
                  <a:pt x="0" y="177800"/>
                </a:moveTo>
                <a:lnTo>
                  <a:pt x="0" y="0"/>
                </a:lnTo>
                <a:lnTo>
                  <a:pt x="177800" y="0"/>
                </a:lnTo>
                <a:moveTo>
                  <a:pt x="10388600" y="0"/>
                </a:moveTo>
                <a:lnTo>
                  <a:pt x="10566400" y="0"/>
                </a:lnTo>
                <a:lnTo>
                  <a:pt x="10566400" y="177800"/>
                </a:lnTo>
                <a:moveTo>
                  <a:pt x="10566400" y="4013200"/>
                </a:moveTo>
                <a:lnTo>
                  <a:pt x="10566400" y="4191000"/>
                </a:lnTo>
                <a:lnTo>
                  <a:pt x="10388600" y="4191000"/>
                </a:lnTo>
                <a:moveTo>
                  <a:pt x="177800" y="4191000"/>
                </a:moveTo>
                <a:lnTo>
                  <a:pt x="0" y="4191000"/>
                </a:lnTo>
                <a:lnTo>
                  <a:pt x="0" y="4013200"/>
                </a:lnTo>
              </a:path>
            </a:pathLst>
          </a:custGeom>
          <a:noFill/>
          <a:ln w="1270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2" name="HUD Text"/>
          <p:cNvSpPr txBox="1"/>
          <p:nvPr/>
        </p:nvSpPr>
        <p:spPr>
          <a:xfrm>
            <a:off x="1066800" y="1905000"/>
            <a:ext cx="203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// MODULE</a:t>
            </a:r>
          </a:p>
        </p:txBody>
      </p:sp>
      <p:sp>
        <p:nvSpPr>
          <p:cNvPr id="503" name="HUD Text"/>
          <p:cNvSpPr txBox="1"/>
          <p:nvPr/>
        </p:nvSpPr>
        <p:spPr>
          <a:xfrm>
            <a:off x="3200400" y="1905000"/>
            <a:ext cx="3810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// 症状</a:t>
            </a:r>
          </a:p>
        </p:txBody>
      </p:sp>
      <p:sp>
        <p:nvSpPr>
          <p:cNvPr id="504" name="HUD Text"/>
          <p:cNvSpPr txBox="1"/>
          <p:nvPr/>
        </p:nvSpPr>
        <p:spPr>
          <a:xfrm>
            <a:off x="7874000" y="1905000"/>
            <a:ext cx="33020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// 直し方</a:t>
            </a:r>
          </a:p>
        </p:txBody>
      </p:sp>
      <p:sp>
        <p:nvSpPr>
          <p:cNvPr id="505" name="HUD"/>
          <p:cNvSpPr/>
          <p:nvPr/>
        </p:nvSpPr>
        <p:spPr>
          <a:xfrm>
            <a:off x="1066800" y="2184400"/>
            <a:ext cx="10058400" cy="635000"/>
          </a:xfrm>
          <a:prstGeom prst="rect">
            <a:avLst/>
          </a:prstGeom>
          <a:solidFill>
            <a:srgbClr val="0E1822"/>
          </a:solidFill>
          <a:ln w="9525">
            <a:solidFill>
              <a:srgbClr val="1E2B38">
                <a:alpha val="10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6" name="HUD"/>
          <p:cNvSpPr/>
          <p:nvPr/>
        </p:nvSpPr>
        <p:spPr>
          <a:xfrm>
            <a:off x="1066800" y="2184400"/>
            <a:ext cx="38100" cy="635000"/>
          </a:xfrm>
          <a:prstGeom prst="rect">
            <a:avLst/>
          </a:prstGeom>
          <a:solidFill>
            <a:srgbClr val="2EE9FF"/>
          </a:solidFill>
          <a:ln w="31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7" name="HUD Text"/>
          <p:cNvSpPr txBox="1"/>
          <p:nvPr/>
        </p:nvSpPr>
        <p:spPr>
          <a:xfrm>
            <a:off x="1244600" y="2184400"/>
            <a:ext cx="330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08" name="HUD Text"/>
          <p:cNvSpPr txBox="1"/>
          <p:nvPr/>
        </p:nvSpPr>
        <p:spPr>
          <a:xfrm>
            <a:off x="1625600" y="2184400"/>
            <a:ext cx="1727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auth_watch</a:t>
            </a:r>
          </a:p>
        </p:txBody>
      </p:sp>
      <p:sp>
        <p:nvSpPr>
          <p:cNvPr id="509" name="HUD Text"/>
          <p:cNvSpPr txBox="1"/>
          <p:nvPr/>
        </p:nvSpPr>
        <p:spPr>
          <a:xfrm>
            <a:off x="3200400" y="21844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51MB の auth.log を全読みし、約6万件を通知</a:t>
            </a:r>
          </a:p>
        </p:txBody>
      </p:sp>
      <p:sp>
        <p:nvSpPr>
          <p:cNvPr id="510" name="HUD"/>
          <p:cNvSpPr/>
          <p:nvPr/>
        </p:nvSpPr>
        <p:spPr>
          <a:xfrm>
            <a:off x="7518400" y="2501900"/>
            <a:ext cx="177800" cy="1270"/>
          </a:xfrm>
          <a:custGeom>
            <a:avLst/>
            <a:gdLst/>
            <a:ahLst/>
            <a:cxnLst/>
            <a:rect l="0" t="0" r="r" b="b"/>
            <a:pathLst>
              <a:path w="177800" h="1270" fill="none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</p:spPr>
        <p:txBody>
          <a:bodyPr/>
          <a:lstStyle/>
          <a:p>
            <a:endParaRPr lang="ja-JP"/>
          </a:p>
        </p:txBody>
      </p:sp>
      <p:sp>
        <p:nvSpPr>
          <p:cNvPr id="511" name="HUD Text"/>
          <p:cNvSpPr txBox="1"/>
          <p:nvPr/>
        </p:nvSpPr>
        <p:spPr>
          <a:xfrm>
            <a:off x="7874000" y="2184400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C9D6DE"/>
                </a:solidFill>
                <a:latin typeface="Rubik"/>
                <a:ea typeface="Rubik"/>
                <a:cs typeface="Rubik"/>
              </a:rPr>
              <a:t>初回はファイル末尾から監視</a:t>
            </a:r>
          </a:p>
        </p:txBody>
      </p:sp>
      <p:sp>
        <p:nvSpPr>
          <p:cNvPr id="512" name="HUD"/>
          <p:cNvSpPr/>
          <p:nvPr/>
        </p:nvSpPr>
        <p:spPr>
          <a:xfrm>
            <a:off x="1066800" y="2921000"/>
            <a:ext cx="10058400" cy="635000"/>
          </a:xfrm>
          <a:prstGeom prst="rect">
            <a:avLst/>
          </a:prstGeom>
          <a:solidFill>
            <a:srgbClr val="1A1220"/>
          </a:solidFill>
          <a:ln w="9525">
            <a:solidFill>
              <a:srgbClr val="FF3D81">
                <a:alpha val="9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3" name="HUD"/>
          <p:cNvSpPr/>
          <p:nvPr/>
        </p:nvSpPr>
        <p:spPr>
          <a:xfrm>
            <a:off x="1066800" y="2921000"/>
            <a:ext cx="38100" cy="635000"/>
          </a:xfrm>
          <a:prstGeom prst="rect">
            <a:avLst/>
          </a:prstGeom>
          <a:solidFill>
            <a:srgbClr val="FF3D81"/>
          </a:solidFill>
          <a:ln w="3175">
            <a:solidFill>
              <a:srgbClr val="FF3D81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4" name="HUD Text"/>
          <p:cNvSpPr txBox="1"/>
          <p:nvPr/>
        </p:nvSpPr>
        <p:spPr>
          <a:xfrm>
            <a:off x="1244600" y="2921000"/>
            <a:ext cx="330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15" name="HUD Text"/>
          <p:cNvSpPr txBox="1"/>
          <p:nvPr/>
        </p:nvSpPr>
        <p:spPr>
          <a:xfrm>
            <a:off x="1625600" y="2921000"/>
            <a:ext cx="1727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procnet_watch</a:t>
            </a:r>
          </a:p>
        </p:txBody>
      </p:sp>
      <p:sp>
        <p:nvSpPr>
          <p:cNvPr id="516" name="HUD Text"/>
          <p:cNvSpPr txBox="1"/>
          <p:nvPr/>
        </p:nvSpPr>
        <p:spPr>
          <a:xfrm>
            <a:off x="3200400" y="29210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CPU 17577.8%。AI はそれを 175.78% と誤読</a:t>
            </a:r>
          </a:p>
        </p:txBody>
      </p:sp>
      <p:sp>
        <p:nvSpPr>
          <p:cNvPr id="517" name="HUD"/>
          <p:cNvSpPr/>
          <p:nvPr/>
        </p:nvSpPr>
        <p:spPr>
          <a:xfrm>
            <a:off x="7518400" y="3238500"/>
            <a:ext cx="177800" cy="1270"/>
          </a:xfrm>
          <a:custGeom>
            <a:avLst/>
            <a:gdLst/>
            <a:ahLst/>
            <a:cxnLst/>
            <a:rect l="0" t="0" r="r" b="b"/>
            <a:pathLst>
              <a:path w="177800" h="1270" fill="none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/>
          <a:ln w="15875">
            <a:solidFill>
              <a:srgbClr val="FF3D81"/>
            </a:solidFill>
            <a:tailEnd type="triangle" w="med" len="med"/>
          </a:ln>
        </p:spPr>
        <p:txBody>
          <a:bodyPr/>
          <a:lstStyle/>
          <a:p>
            <a:endParaRPr lang="ja-JP"/>
          </a:p>
        </p:txBody>
      </p:sp>
      <p:sp>
        <p:nvSpPr>
          <p:cNvPr id="518" name="HUD Text"/>
          <p:cNvSpPr txBox="1"/>
          <p:nvPr/>
        </p:nvSpPr>
        <p:spPr>
          <a:xfrm>
            <a:off x="7874000" y="2921000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C9D6DE"/>
                </a:solidFill>
                <a:latin typeface="Rubik"/>
                <a:ea typeface="Rubik"/>
                <a:cs typeface="Rubik"/>
              </a:rPr>
              <a:t>計測を1回に、コア数×100% 超は無視</a:t>
            </a:r>
          </a:p>
        </p:txBody>
      </p:sp>
      <p:sp>
        <p:nvSpPr>
          <p:cNvPr id="519" name="HUD"/>
          <p:cNvSpPr/>
          <p:nvPr/>
        </p:nvSpPr>
        <p:spPr>
          <a:xfrm>
            <a:off x="1066800" y="3657600"/>
            <a:ext cx="10058400" cy="635000"/>
          </a:xfrm>
          <a:prstGeom prst="rect">
            <a:avLst/>
          </a:prstGeom>
          <a:solidFill>
            <a:srgbClr val="0E1822"/>
          </a:solidFill>
          <a:ln w="9525">
            <a:solidFill>
              <a:srgbClr val="1E2B38">
                <a:alpha val="10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0" name="HUD"/>
          <p:cNvSpPr/>
          <p:nvPr/>
        </p:nvSpPr>
        <p:spPr>
          <a:xfrm>
            <a:off x="1066800" y="3657600"/>
            <a:ext cx="38100" cy="635000"/>
          </a:xfrm>
          <a:prstGeom prst="rect">
            <a:avLst/>
          </a:prstGeom>
          <a:solidFill>
            <a:srgbClr val="2EE9FF"/>
          </a:solidFill>
          <a:ln w="31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1" name="HUD Text"/>
          <p:cNvSpPr txBox="1"/>
          <p:nvPr/>
        </p:nvSpPr>
        <p:spPr>
          <a:xfrm>
            <a:off x="1244600" y="3657600"/>
            <a:ext cx="330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522" name="HUD Text"/>
          <p:cNvSpPr txBox="1"/>
          <p:nvPr/>
        </p:nvSpPr>
        <p:spPr>
          <a:xfrm>
            <a:off x="1625600" y="3657600"/>
            <a:ext cx="1727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ai_triage</a:t>
            </a:r>
          </a:p>
        </p:txBody>
      </p:sp>
      <p:sp>
        <p:nvSpPr>
          <p:cNvPr id="523" name="HUD Text"/>
          <p:cNvSpPr txBox="1"/>
          <p:nvPr/>
        </p:nvSpPr>
        <p:spPr>
          <a:xfrm>
            <a:off x="3200400" y="36576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Cloudflare が 403 (1010)、AI判定が全滅</a:t>
            </a:r>
          </a:p>
        </p:txBody>
      </p:sp>
      <p:sp>
        <p:nvSpPr>
          <p:cNvPr id="524" name="HUD"/>
          <p:cNvSpPr/>
          <p:nvPr/>
        </p:nvSpPr>
        <p:spPr>
          <a:xfrm>
            <a:off x="7518400" y="3975100"/>
            <a:ext cx="177800" cy="1270"/>
          </a:xfrm>
          <a:custGeom>
            <a:avLst/>
            <a:gdLst/>
            <a:ahLst/>
            <a:cxnLst/>
            <a:rect l="0" t="0" r="r" b="b"/>
            <a:pathLst>
              <a:path w="177800" h="1270" fill="none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</p:spPr>
        <p:txBody>
          <a:bodyPr/>
          <a:lstStyle/>
          <a:p>
            <a:endParaRPr lang="ja-JP"/>
          </a:p>
        </p:txBody>
      </p:sp>
      <p:sp>
        <p:nvSpPr>
          <p:cNvPr id="525" name="HUD Text"/>
          <p:cNvSpPr txBox="1"/>
          <p:nvPr/>
        </p:nvSpPr>
        <p:spPr>
          <a:xfrm>
            <a:off x="7874000" y="3657600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C9D6DE"/>
                </a:solidFill>
                <a:latin typeface="Rubik"/>
                <a:ea typeface="Rubik"/>
                <a:cs typeface="Rubik"/>
              </a:rPr>
              <a:t>ブラウザ風の User-Agent を明示</a:t>
            </a:r>
          </a:p>
        </p:txBody>
      </p:sp>
      <p:sp>
        <p:nvSpPr>
          <p:cNvPr id="526" name="HUD"/>
          <p:cNvSpPr/>
          <p:nvPr/>
        </p:nvSpPr>
        <p:spPr>
          <a:xfrm>
            <a:off x="1066800" y="4394200"/>
            <a:ext cx="10058400" cy="635000"/>
          </a:xfrm>
          <a:prstGeom prst="rect">
            <a:avLst/>
          </a:prstGeom>
          <a:solidFill>
            <a:srgbClr val="0E1822"/>
          </a:solidFill>
          <a:ln w="9525">
            <a:solidFill>
              <a:srgbClr val="1E2B38">
                <a:alpha val="10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7" name="HUD"/>
          <p:cNvSpPr/>
          <p:nvPr/>
        </p:nvSpPr>
        <p:spPr>
          <a:xfrm>
            <a:off x="1066800" y="4394200"/>
            <a:ext cx="38100" cy="635000"/>
          </a:xfrm>
          <a:prstGeom prst="rect">
            <a:avLst/>
          </a:prstGeom>
          <a:solidFill>
            <a:srgbClr val="2EE9FF"/>
          </a:solidFill>
          <a:ln w="31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8" name="HUD Text"/>
          <p:cNvSpPr txBox="1"/>
          <p:nvPr/>
        </p:nvSpPr>
        <p:spPr>
          <a:xfrm>
            <a:off x="1244600" y="4394200"/>
            <a:ext cx="330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529" name="HUD Text"/>
          <p:cNvSpPr txBox="1"/>
          <p:nvPr/>
        </p:nvSpPr>
        <p:spPr>
          <a:xfrm>
            <a:off x="1625600" y="4394200"/>
            <a:ext cx="1727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Docker Desktop</a:t>
            </a:r>
          </a:p>
        </p:txBody>
      </p:sp>
      <p:sp>
        <p:nvSpPr>
          <p:cNvPr id="530" name="HUD Text"/>
          <p:cNvSpPr txBox="1"/>
          <p:nvPr/>
        </p:nvSpPr>
        <p:spPr>
          <a:xfrm>
            <a:off x="3200400" y="43942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mac の host ネットワークは VM を見ていた</a:t>
            </a:r>
          </a:p>
        </p:txBody>
      </p:sp>
      <p:sp>
        <p:nvSpPr>
          <p:cNvPr id="531" name="HUD"/>
          <p:cNvSpPr/>
          <p:nvPr/>
        </p:nvSpPr>
        <p:spPr>
          <a:xfrm>
            <a:off x="7518400" y="4711700"/>
            <a:ext cx="177800" cy="1270"/>
          </a:xfrm>
          <a:custGeom>
            <a:avLst/>
            <a:gdLst/>
            <a:ahLst/>
            <a:cxnLst/>
            <a:rect l="0" t="0" r="r" b="b"/>
            <a:pathLst>
              <a:path w="177800" h="1270" fill="none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</p:spPr>
        <p:txBody>
          <a:bodyPr/>
          <a:lstStyle/>
          <a:p>
            <a:endParaRPr lang="ja-JP"/>
          </a:p>
        </p:txBody>
      </p:sp>
      <p:sp>
        <p:nvSpPr>
          <p:cNvPr id="532" name="HUD Text"/>
          <p:cNvSpPr txBox="1"/>
          <p:nvPr/>
        </p:nvSpPr>
        <p:spPr>
          <a:xfrm>
            <a:off x="7874000" y="4394200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C9D6DE"/>
                </a:solidFill>
                <a:latin typeface="Rubik"/>
                <a:ea typeface="Rubik"/>
                <a:cs typeface="Rubik"/>
              </a:rPr>
              <a:t>mac は動作確認用と割り切る</a:t>
            </a:r>
          </a:p>
        </p:txBody>
      </p:sp>
      <p:sp>
        <p:nvSpPr>
          <p:cNvPr id="533" name="HUD"/>
          <p:cNvSpPr/>
          <p:nvPr/>
        </p:nvSpPr>
        <p:spPr>
          <a:xfrm>
            <a:off x="1066800" y="5130800"/>
            <a:ext cx="10058400" cy="635000"/>
          </a:xfrm>
          <a:prstGeom prst="rect">
            <a:avLst/>
          </a:prstGeom>
          <a:solidFill>
            <a:srgbClr val="0E1822"/>
          </a:solidFill>
          <a:ln w="9525">
            <a:solidFill>
              <a:srgbClr val="1E2B38">
                <a:alpha val="10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4" name="HUD"/>
          <p:cNvSpPr/>
          <p:nvPr/>
        </p:nvSpPr>
        <p:spPr>
          <a:xfrm>
            <a:off x="1066800" y="5130800"/>
            <a:ext cx="38100" cy="635000"/>
          </a:xfrm>
          <a:prstGeom prst="rect">
            <a:avLst/>
          </a:prstGeom>
          <a:solidFill>
            <a:srgbClr val="2EE9FF"/>
          </a:solidFill>
          <a:ln w="3175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35" name="HUD Text"/>
          <p:cNvSpPr txBox="1"/>
          <p:nvPr/>
        </p:nvSpPr>
        <p:spPr>
          <a:xfrm>
            <a:off x="1244600" y="5130800"/>
            <a:ext cx="330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200" b="1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536" name="HUD Text"/>
          <p:cNvSpPr txBox="1"/>
          <p:nvPr/>
        </p:nvSpPr>
        <p:spPr>
          <a:xfrm>
            <a:off x="1625600" y="5130800"/>
            <a:ext cx="17272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.env</a:t>
            </a:r>
          </a:p>
        </p:txBody>
      </p:sp>
      <p:sp>
        <p:nvSpPr>
          <p:cNvPr id="537" name="HUD Text"/>
          <p:cNvSpPr txBox="1"/>
          <p:nvPr/>
        </p:nvSpPr>
        <p:spPr>
          <a:xfrm>
            <a:off x="3200400" y="5130800"/>
            <a:ext cx="4318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.env の変更がコンテナに反映されない</a:t>
            </a:r>
          </a:p>
        </p:txBody>
      </p:sp>
      <p:sp>
        <p:nvSpPr>
          <p:cNvPr id="538" name="HUD"/>
          <p:cNvSpPr/>
          <p:nvPr/>
        </p:nvSpPr>
        <p:spPr>
          <a:xfrm>
            <a:off x="7518400" y="5448300"/>
            <a:ext cx="177800" cy="1270"/>
          </a:xfrm>
          <a:custGeom>
            <a:avLst/>
            <a:gdLst/>
            <a:ahLst/>
            <a:cxnLst/>
            <a:rect l="0" t="0" r="r" b="b"/>
            <a:pathLst>
              <a:path w="177800" h="1270" fill="none">
                <a:moveTo>
                  <a:pt x="0" y="0"/>
                </a:moveTo>
                <a:lnTo>
                  <a:pt x="177800" y="0"/>
                </a:lnTo>
              </a:path>
            </a:pathLst>
          </a:custGeom>
          <a:noFill/>
          <a:ln w="15875">
            <a:solidFill>
              <a:srgbClr val="2EE9FF"/>
            </a:solidFill>
            <a:tailEnd type="triangle" w="med" len="med"/>
          </a:ln>
        </p:spPr>
        <p:txBody>
          <a:bodyPr/>
          <a:lstStyle/>
          <a:p>
            <a:endParaRPr lang="ja-JP"/>
          </a:p>
        </p:txBody>
      </p:sp>
      <p:sp>
        <p:nvSpPr>
          <p:cNvPr id="539" name="HUD Text"/>
          <p:cNvSpPr txBox="1"/>
          <p:nvPr/>
        </p:nvSpPr>
        <p:spPr>
          <a:xfrm>
            <a:off x="7874000" y="5130800"/>
            <a:ext cx="3175000" cy="635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1300" dirty="0">
                <a:solidFill>
                  <a:srgbClr val="C9D6DE"/>
                </a:solidFill>
                <a:latin typeface="Rubik"/>
                <a:ea typeface="Rubik"/>
                <a:cs typeface="Rubik"/>
              </a:rPr>
              <a:t>up -d --force-recreate で作り直す</a:t>
            </a:r>
          </a:p>
        </p:txBody>
      </p:sp>
      <p:sp>
        <p:nvSpPr>
          <p:cNvPr id="22" name="Text 17"/>
          <p:cNvSpPr/>
          <p:nvPr/>
        </p:nvSpPr>
        <p:spPr>
          <a:xfrm>
            <a:off x="1193800" y="623829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10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5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11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3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1566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812766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現在の稼働状況</a:t>
            </a:r>
            <a:endParaRPr lang="en-US" sz="3200" dirty="0"/>
          </a:p>
        </p:txBody>
      </p:sp>
      <p:sp>
        <p:nvSpPr>
          <p:cNvPr id="500" name="HUD"/>
          <p:cNvSpPr/>
          <p:nvPr/>
        </p:nvSpPr>
        <p:spPr>
          <a:xfrm>
            <a:off x="812800" y="1778000"/>
            <a:ext cx="10566400" cy="4191000"/>
          </a:xfrm>
          <a:prstGeom prst="rect">
            <a:avLst/>
          </a:prstGeom>
          <a:pattFill prst="dotGrid">
            <a:fgClr>
              <a:srgbClr val="1C2A36"/>
            </a:fgClr>
            <a:bgClr>
              <a:srgbClr val="0B131C"/>
            </a:bgClr>
          </a:pattFill>
          <a:ln w="6350">
            <a:solidFill>
              <a:srgbClr val="1A2733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1" name="HUD"/>
          <p:cNvSpPr/>
          <p:nvPr/>
        </p:nvSpPr>
        <p:spPr>
          <a:xfrm>
            <a:off x="812800" y="1778000"/>
            <a:ext cx="10566400" cy="4191000"/>
          </a:xfrm>
          <a:custGeom>
            <a:avLst/>
            <a:gdLst/>
            <a:ahLst/>
            <a:cxnLst/>
            <a:rect l="0" t="0" r="r" b="b"/>
            <a:pathLst>
              <a:path w="10566400" h="4191000" fill="none">
                <a:moveTo>
                  <a:pt x="0" y="177800"/>
                </a:moveTo>
                <a:lnTo>
                  <a:pt x="0" y="0"/>
                </a:lnTo>
                <a:lnTo>
                  <a:pt x="177800" y="0"/>
                </a:lnTo>
                <a:moveTo>
                  <a:pt x="10388600" y="0"/>
                </a:moveTo>
                <a:lnTo>
                  <a:pt x="10566400" y="0"/>
                </a:lnTo>
                <a:lnTo>
                  <a:pt x="10566400" y="177800"/>
                </a:lnTo>
                <a:moveTo>
                  <a:pt x="10566400" y="4013200"/>
                </a:moveTo>
                <a:lnTo>
                  <a:pt x="10566400" y="4191000"/>
                </a:lnTo>
                <a:lnTo>
                  <a:pt x="10388600" y="4191000"/>
                </a:lnTo>
                <a:moveTo>
                  <a:pt x="177800" y="4191000"/>
                </a:moveTo>
                <a:lnTo>
                  <a:pt x="0" y="4191000"/>
                </a:lnTo>
                <a:lnTo>
                  <a:pt x="0" y="4013200"/>
                </a:lnTo>
              </a:path>
            </a:pathLst>
          </a:custGeom>
          <a:noFill/>
          <a:ln w="1270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2" name="HUD Text"/>
          <p:cNvSpPr txBox="1"/>
          <p:nvPr/>
        </p:nvSpPr>
        <p:spPr>
          <a:xfrm>
            <a:off x="1066800" y="1930400"/>
            <a:ext cx="38100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dirty="0">
                <a:solidFill>
                  <a:srgbClr val="4D6270"/>
                </a:solidFill>
                <a:latin typeface="JetBrains Mono"/>
                <a:ea typeface="JetBrains Mono"/>
                <a:cs typeface="JetBrains Mono"/>
              </a:rPr>
              <a:t>// </a:t>
            </a:r>
            <a:r>
              <a:rPr lang="ja-JP" altLang="en-US" sz="900" spc="20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FLEET · 3 HOSTS</a:t>
            </a:r>
          </a:p>
        </p:txBody>
      </p:sp>
      <p:sp>
        <p:nvSpPr>
          <p:cNvPr id="503" name="HUD"/>
          <p:cNvSpPr/>
          <p:nvPr/>
        </p:nvSpPr>
        <p:spPr>
          <a:xfrm>
            <a:off x="1066800" y="2184400"/>
            <a:ext cx="3149600" cy="19050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60000"/>
              </a:srgbClr>
            </a:solidFill>
          </a:ln>
          <a:effectLst>
            <a:glow rad="101600">
              <a:srgbClr val="2EE9FF">
                <a:alpha val="28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04" name="HUD"/>
          <p:cNvSpPr/>
          <p:nvPr/>
        </p:nvSpPr>
        <p:spPr>
          <a:xfrm>
            <a:off x="1041400" y="2159000"/>
            <a:ext cx="3200400" cy="1955800"/>
          </a:xfrm>
          <a:custGeom>
            <a:avLst/>
            <a:gdLst/>
            <a:ahLst/>
            <a:cxnLst/>
            <a:rect l="0" t="0" r="r" b="b"/>
            <a:pathLst>
              <a:path w="3200400" h="1955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3098800" y="0"/>
                </a:moveTo>
                <a:lnTo>
                  <a:pt x="3200400" y="0"/>
                </a:lnTo>
                <a:lnTo>
                  <a:pt x="3200400" y="101600"/>
                </a:lnTo>
                <a:moveTo>
                  <a:pt x="3200400" y="1854200"/>
                </a:moveTo>
                <a:lnTo>
                  <a:pt x="3200400" y="1955800"/>
                </a:lnTo>
                <a:lnTo>
                  <a:pt x="3098800" y="1955800"/>
                </a:lnTo>
                <a:moveTo>
                  <a:pt x="101600" y="1955800"/>
                </a:moveTo>
                <a:lnTo>
                  <a:pt x="0" y="1955800"/>
                </a:lnTo>
                <a:lnTo>
                  <a:pt x="0" y="18542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5" name="HUD Text"/>
          <p:cNvSpPr txBox="1"/>
          <p:nvPr/>
        </p:nvSpPr>
        <p:spPr>
          <a:xfrm>
            <a:off x="1244600" y="2324100"/>
            <a:ext cx="2641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HOST_01 · webui + agent</a:t>
            </a:r>
          </a:p>
        </p:txBody>
      </p:sp>
      <p:sp>
        <p:nvSpPr>
          <p:cNvPr id="506" name="HUD"/>
          <p:cNvSpPr/>
          <p:nvPr/>
        </p:nvSpPr>
        <p:spPr>
          <a:xfrm>
            <a:off x="3994150" y="23685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07" name="HUD Text"/>
          <p:cNvSpPr txBox="1"/>
          <p:nvPr/>
        </p:nvSpPr>
        <p:spPr>
          <a:xfrm>
            <a:off x="1244600" y="2540000"/>
            <a:ext cx="2794000" cy="147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server1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ダッシュボード :8877 を公開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main への push で自動デプロイ</a:t>
            </a:r>
          </a:p>
        </p:txBody>
      </p:sp>
      <p:sp>
        <p:nvSpPr>
          <p:cNvPr id="508" name="HUD"/>
          <p:cNvSpPr/>
          <p:nvPr/>
        </p:nvSpPr>
        <p:spPr>
          <a:xfrm>
            <a:off x="1280160" y="3708400"/>
            <a:ext cx="109728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2EE9FF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09" name="HUD Text"/>
          <p:cNvSpPr txBox="1"/>
          <p:nvPr/>
        </p:nvSpPr>
        <p:spPr>
          <a:xfrm>
            <a:off x="1280160" y="3708400"/>
            <a:ext cx="109728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CI/CD: AUTO</a:t>
            </a:r>
          </a:p>
        </p:txBody>
      </p:sp>
      <p:sp>
        <p:nvSpPr>
          <p:cNvPr id="510" name="HUD"/>
          <p:cNvSpPr/>
          <p:nvPr/>
        </p:nvSpPr>
        <p:spPr>
          <a:xfrm>
            <a:off x="4521200" y="2184400"/>
            <a:ext cx="3149600" cy="19050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1" name="HUD"/>
          <p:cNvSpPr/>
          <p:nvPr/>
        </p:nvSpPr>
        <p:spPr>
          <a:xfrm>
            <a:off x="4495800" y="2159000"/>
            <a:ext cx="3200400" cy="1955800"/>
          </a:xfrm>
          <a:custGeom>
            <a:avLst/>
            <a:gdLst/>
            <a:ahLst/>
            <a:cxnLst/>
            <a:rect l="0" t="0" r="r" b="b"/>
            <a:pathLst>
              <a:path w="3200400" h="1955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3098800" y="0"/>
                </a:moveTo>
                <a:lnTo>
                  <a:pt x="3200400" y="0"/>
                </a:lnTo>
                <a:lnTo>
                  <a:pt x="3200400" y="101600"/>
                </a:lnTo>
                <a:moveTo>
                  <a:pt x="3200400" y="1854200"/>
                </a:moveTo>
                <a:lnTo>
                  <a:pt x="3200400" y="1955800"/>
                </a:lnTo>
                <a:lnTo>
                  <a:pt x="3098800" y="1955800"/>
                </a:lnTo>
                <a:moveTo>
                  <a:pt x="101600" y="1955800"/>
                </a:moveTo>
                <a:lnTo>
                  <a:pt x="0" y="1955800"/>
                </a:lnTo>
                <a:lnTo>
                  <a:pt x="0" y="18542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2" name="HUD Text"/>
          <p:cNvSpPr txBox="1"/>
          <p:nvPr/>
        </p:nvSpPr>
        <p:spPr>
          <a:xfrm>
            <a:off x="4699000" y="2324100"/>
            <a:ext cx="2641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HOST_02 · agent</a:t>
            </a:r>
          </a:p>
        </p:txBody>
      </p:sp>
      <p:sp>
        <p:nvSpPr>
          <p:cNvPr id="513" name="HUD"/>
          <p:cNvSpPr/>
          <p:nvPr/>
        </p:nvSpPr>
        <p:spPr>
          <a:xfrm>
            <a:off x="7448550" y="23685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14" name="HUD Text"/>
          <p:cNvSpPr txBox="1"/>
          <p:nvPr/>
        </p:nvSpPr>
        <p:spPr>
          <a:xfrm>
            <a:off x="4699000" y="2540000"/>
            <a:ext cx="2794000" cy="147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client1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config.yaml は skip-worktree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更新は手動で git pull</a:t>
            </a:r>
          </a:p>
        </p:txBody>
      </p:sp>
      <p:sp>
        <p:nvSpPr>
          <p:cNvPr id="515" name="HUD"/>
          <p:cNvSpPr/>
          <p:nvPr/>
        </p:nvSpPr>
        <p:spPr>
          <a:xfrm>
            <a:off x="4653280" y="3708400"/>
            <a:ext cx="125984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FFB547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6" name="HUD Text"/>
          <p:cNvSpPr txBox="1"/>
          <p:nvPr/>
        </p:nvSpPr>
        <p:spPr>
          <a:xfrm>
            <a:off x="4653280" y="3708400"/>
            <a:ext cx="125984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FFB547"/>
                </a:solidFill>
                <a:latin typeface="JetBrains Mono"/>
                <a:ea typeface="JetBrains Mono"/>
                <a:cs typeface="JetBrains Mono"/>
              </a:rPr>
              <a:t>CI/CD: MANUAL</a:t>
            </a:r>
          </a:p>
        </p:txBody>
      </p:sp>
      <p:sp>
        <p:nvSpPr>
          <p:cNvPr id="517" name="HUD"/>
          <p:cNvSpPr/>
          <p:nvPr/>
        </p:nvSpPr>
        <p:spPr>
          <a:xfrm>
            <a:off x="7975600" y="2184400"/>
            <a:ext cx="3149600" cy="19050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3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8" name="HUD"/>
          <p:cNvSpPr/>
          <p:nvPr/>
        </p:nvSpPr>
        <p:spPr>
          <a:xfrm>
            <a:off x="7950200" y="2159000"/>
            <a:ext cx="3200400" cy="1955800"/>
          </a:xfrm>
          <a:custGeom>
            <a:avLst/>
            <a:gdLst/>
            <a:ahLst/>
            <a:cxnLst/>
            <a:rect l="0" t="0" r="r" b="b"/>
            <a:pathLst>
              <a:path w="3200400" h="1955800" fill="none">
                <a:moveTo>
                  <a:pt x="0" y="101600"/>
                </a:moveTo>
                <a:lnTo>
                  <a:pt x="0" y="0"/>
                </a:lnTo>
                <a:lnTo>
                  <a:pt x="101600" y="0"/>
                </a:lnTo>
                <a:moveTo>
                  <a:pt x="3098800" y="0"/>
                </a:moveTo>
                <a:lnTo>
                  <a:pt x="3200400" y="0"/>
                </a:lnTo>
                <a:lnTo>
                  <a:pt x="3200400" y="101600"/>
                </a:lnTo>
                <a:moveTo>
                  <a:pt x="3200400" y="1854200"/>
                </a:moveTo>
                <a:lnTo>
                  <a:pt x="3200400" y="1955800"/>
                </a:lnTo>
                <a:lnTo>
                  <a:pt x="3098800" y="1955800"/>
                </a:lnTo>
                <a:moveTo>
                  <a:pt x="101600" y="1955800"/>
                </a:moveTo>
                <a:lnTo>
                  <a:pt x="0" y="1955800"/>
                </a:lnTo>
                <a:lnTo>
                  <a:pt x="0" y="1854200"/>
                </a:lnTo>
              </a:path>
            </a:pathLst>
          </a:custGeom>
          <a:noFill/>
          <a:ln w="19050">
            <a:solidFill>
              <a:srgbClr val="2EE9FF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19" name="HUD Text"/>
          <p:cNvSpPr txBox="1"/>
          <p:nvPr/>
        </p:nvSpPr>
        <p:spPr>
          <a:xfrm>
            <a:off x="8153400" y="2324100"/>
            <a:ext cx="2641600" cy="152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ja-JP" altLang="en-US" sz="9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HOST_03 · agent</a:t>
            </a:r>
          </a:p>
        </p:txBody>
      </p:sp>
      <p:sp>
        <p:nvSpPr>
          <p:cNvPr id="520" name="HUD"/>
          <p:cNvSpPr/>
          <p:nvPr/>
        </p:nvSpPr>
        <p:spPr>
          <a:xfrm>
            <a:off x="10902950" y="2368550"/>
            <a:ext cx="63500" cy="63500"/>
          </a:xfrm>
          <a:prstGeom prst="ellipse">
            <a:avLst/>
          </a:prstGeom>
          <a:solidFill>
            <a:srgbClr val="2EE9FF"/>
          </a:solidFill>
          <a:ln>
            <a:noFill/>
          </a:ln>
          <a:effectLst>
            <a:glow rad="50800">
              <a:srgbClr val="2EE9FF">
                <a:alpha val="60000"/>
              </a:srgbClr>
            </a:glow>
          </a:effectLst>
        </p:spPr>
        <p:txBody>
          <a:bodyPr/>
          <a:lstStyle/>
          <a:p>
            <a:endParaRPr lang="ja-JP"/>
          </a:p>
        </p:txBody>
      </p:sp>
      <p:sp>
        <p:nvSpPr>
          <p:cNvPr id="521" name="HUD Text"/>
          <p:cNvSpPr txBox="1"/>
          <p:nvPr/>
        </p:nvSpPr>
        <p:spPr>
          <a:xfrm>
            <a:off x="8153400" y="2540000"/>
            <a:ext cx="2794000" cy="147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ja-JP" altLang="en-US" sz="16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mac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Docker Desktop の VM を監視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更新は手動で git pull</a:t>
            </a:r>
          </a:p>
        </p:txBody>
      </p:sp>
      <p:sp>
        <p:nvSpPr>
          <p:cNvPr id="522" name="HUD"/>
          <p:cNvSpPr/>
          <p:nvPr/>
        </p:nvSpPr>
        <p:spPr>
          <a:xfrm>
            <a:off x="8107680" y="3708400"/>
            <a:ext cx="1259840" cy="203200"/>
          </a:xfrm>
          <a:prstGeom prst="rect">
            <a:avLst/>
          </a:prstGeom>
          <a:solidFill>
            <a:srgbClr val="0B131C"/>
          </a:solidFill>
          <a:ln w="9525">
            <a:solidFill>
              <a:srgbClr val="FFB547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3" name="HUD Text"/>
          <p:cNvSpPr txBox="1"/>
          <p:nvPr/>
        </p:nvSpPr>
        <p:spPr>
          <a:xfrm>
            <a:off x="8107680" y="3708400"/>
            <a:ext cx="1259840" cy="203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ja-JP" altLang="en-US" sz="900" spc="50" dirty="0">
                <a:solidFill>
                  <a:srgbClr val="FFB547"/>
                </a:solidFill>
                <a:latin typeface="JetBrains Mono"/>
                <a:ea typeface="JetBrains Mono"/>
                <a:cs typeface="JetBrains Mono"/>
              </a:rPr>
              <a:t>CI/CD: MANUAL</a:t>
            </a:r>
          </a:p>
        </p:txBody>
      </p:sp>
      <p:sp>
        <p:nvSpPr>
          <p:cNvPr id="524" name="HUD"/>
          <p:cNvSpPr/>
          <p:nvPr/>
        </p:nvSpPr>
        <p:spPr>
          <a:xfrm>
            <a:off x="1066800" y="4394200"/>
            <a:ext cx="4927600" cy="1371600"/>
          </a:xfrm>
          <a:prstGeom prst="rect">
            <a:avLst/>
          </a:prstGeom>
          <a:solidFill>
            <a:srgbClr val="0E1822"/>
          </a:solidFill>
          <a:ln w="9525">
            <a:solidFill>
              <a:srgbClr val="2EE9FF">
                <a:alpha val="6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5" name="HUD Text"/>
          <p:cNvSpPr txBox="1"/>
          <p:nvPr/>
        </p:nvSpPr>
        <p:spPr>
          <a:xfrm>
            <a:off x="1270000" y="439420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1000" spc="150" dirty="0">
                <a:solidFill>
                  <a:srgbClr val="2EE9FF"/>
                </a:solidFill>
                <a:latin typeface="JetBrains Mono"/>
                <a:ea typeface="JetBrains Mono"/>
                <a:cs typeface="JetBrains Mono"/>
              </a:rPr>
              <a:t>CI/CD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self-hosted Runner で自動デプロイ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git reset → compose up → ヘルスチェック</a:t>
            </a:r>
          </a:p>
        </p:txBody>
      </p:sp>
      <p:sp>
        <p:nvSpPr>
          <p:cNvPr id="526" name="HUD"/>
          <p:cNvSpPr/>
          <p:nvPr/>
        </p:nvSpPr>
        <p:spPr>
          <a:xfrm>
            <a:off x="6197600" y="4394200"/>
            <a:ext cx="4927600" cy="1371600"/>
          </a:xfrm>
          <a:prstGeom prst="rect">
            <a:avLst/>
          </a:prstGeom>
          <a:solidFill>
            <a:srgbClr val="0E1822"/>
          </a:solidFill>
          <a:ln w="9525">
            <a:solidFill>
              <a:srgbClr val="FF3D81">
                <a:alpha val="70000"/>
              </a:srgbClr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527" name="HUD Text"/>
          <p:cNvSpPr txBox="1"/>
          <p:nvPr/>
        </p:nvSpPr>
        <p:spPr>
          <a:xfrm>
            <a:off x="6400800" y="439420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1000" spc="150" dirty="0">
                <a:solidFill>
                  <a:srgbClr val="FF3D81"/>
                </a:solidFill>
                <a:latin typeface="JetBrains Mono"/>
                <a:ea typeface="JetBrains Mono"/>
                <a:cs typeface="JetBrains Mono"/>
              </a:rPr>
              <a:t>PERSISTENCE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ja-JP" altLang="en-US" sz="1400" b="1" dirty="0">
                <a:solidFill>
                  <a:srgbClr val="EAFFFB"/>
                </a:solidFill>
                <a:latin typeface="Rubik"/>
                <a:ea typeface="Rubik"/>
                <a:cs typeface="Rubik"/>
              </a:rPr>
              <a:t>アラートは2層で保存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alerts.jsonl：全件、直近の表示・配信用</a:t>
            </a:r>
          </a:p>
          <a:p>
            <a:pPr marL="0" indent="0" algn="l">
              <a:lnSpc>
                <a:spcPct val="125000"/>
              </a:lnSpc>
              <a:buNone/>
            </a:pPr>
            <a:r>
              <a:rPr lang="ja-JP" altLang="en-US" sz="1200" dirty="0">
                <a:solidFill>
                  <a:srgbClr val="8FA3B0"/>
                </a:solidFill>
                <a:latin typeface="Rubik"/>
                <a:ea typeface="Rubik"/>
                <a:cs typeface="Rubik"/>
              </a:rPr>
              <a:t>SQLite：CRITICAL / WARNING を長期監査用</a:t>
            </a:r>
          </a:p>
        </p:txBody>
      </p:sp>
      <p:sp>
        <p:nvSpPr>
          <p:cNvPr id="13" name="Text 10"/>
          <p:cNvSpPr/>
          <p:nvPr/>
        </p:nvSpPr>
        <p:spPr>
          <a:xfrm>
            <a:off x="1193800" y="6238292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11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2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08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0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154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60A10"/>
              </a:gs>
              <a:gs pos="55000">
                <a:srgbClr val="0B131C"/>
              </a:gs>
              <a:gs pos="100000">
                <a:srgbClr val="081015"/>
              </a:gs>
            </a:gsLst>
            <a:lin ang="4200000" scaled="0"/>
          </a:gra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812767" y="812763"/>
            <a:ext cx="10883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200" dirty="0">
                <a:solidFill>
                  <a:srgbClr val="2EE9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767" y="1127621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EAFF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今後の拡張候補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42" y="1902879"/>
            <a:ext cx="3397266" cy="1159636"/>
          </a:xfrm>
          <a:prstGeom prst="roundRect">
            <a:avLst>
              <a:gd name="adj" fmla="val 8488"/>
            </a:avLst>
          </a:prstGeom>
          <a:solidFill>
            <a:srgbClr val="121A24"/>
          </a:solidFill>
          <a:ln w="6350">
            <a:solidFill>
              <a:srgbClr val="1E2B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1209" y="2108150"/>
            <a:ext cx="203150" cy="2031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1209" y="2400182"/>
            <a:ext cx="307633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9EC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WebUIへの認証機能追加（現状LAN内前提）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97325" y="1902879"/>
            <a:ext cx="3397349" cy="1159636"/>
          </a:xfrm>
          <a:prstGeom prst="roundRect">
            <a:avLst>
              <a:gd name="adj" fmla="val 8488"/>
            </a:avLst>
          </a:prstGeom>
          <a:solidFill>
            <a:srgbClr val="121A24"/>
          </a:solidFill>
          <a:ln w="6350">
            <a:solidFill>
              <a:srgbClr val="1E2B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1" descr="Wrench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02592" y="2108150"/>
            <a:ext cx="203150" cy="2031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2592" y="2400182"/>
            <a:ext cx="3076419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9EC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client1/macもCI/CD対象化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978791" y="1902879"/>
            <a:ext cx="3397266" cy="1159636"/>
          </a:xfrm>
          <a:prstGeom prst="roundRect">
            <a:avLst>
              <a:gd name="adj" fmla="val 8488"/>
            </a:avLst>
          </a:prstGeom>
          <a:solidFill>
            <a:srgbClr val="121A24"/>
          </a:solidFill>
          <a:ln w="6350">
            <a:solidFill>
              <a:srgbClr val="1E2B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Char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84059" y="2108150"/>
            <a:ext cx="203150" cy="203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4059" y="2400182"/>
            <a:ext cx="3076334" cy="48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9ECF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AIトリアージのコスト・レート制限の仕組み化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400666" y="4864199"/>
            <a:ext cx="3390585" cy="695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EAFFF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5" name="Text 10"/>
          <p:cNvSpPr/>
          <p:nvPr/>
        </p:nvSpPr>
        <p:spPr>
          <a:xfrm>
            <a:off x="4718577" y="5610901"/>
            <a:ext cx="2754845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github.com/hit1023/sentinel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93800" y="6238292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D62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SENTINEL // 12</a:t>
            </a:r>
            <a:endParaRPr lang="en-US" sz="1200" dirty="0"/>
          </a:p>
        </p:txBody>
      </p:sp>
      <p:grpSp>
        <p:nvGrpSpPr>
          <p:cNvPr id="30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01" name="Eye Outline"/>
            <p:cNvSpPr/>
            <p:nvPr/>
          </p:nvSpPr>
          <p:spPr>
            <a:xfrm>
              <a:off x="812800" y="6281452"/>
              <a:ext cx="304800" cy="152400"/>
            </a:xfrm>
            <a:custGeom>
              <a:avLst/>
              <a:gdLst/>
              <a:ahLst/>
              <a:cxnLst/>
              <a:rect l="0" t="0" r="r" b="b"/>
              <a:pathLst>
                <a:path w="304800" h="152400">
                  <a:moveTo>
                    <a:pt x="0" y="76200"/>
                  </a:moveTo>
                  <a:cubicBezTo>
                    <a:pt x="91440" y="-25400"/>
                    <a:pt x="213360" y="-25400"/>
                    <a:pt x="304800" y="76200"/>
                  </a:cubicBezTo>
                  <a:cubicBezTo>
                    <a:pt x="213360" y="177800"/>
                    <a:pt x="91440" y="177800"/>
                    <a:pt x="0" y="76200"/>
                  </a:cubicBezTo>
                  <a:close/>
                </a:path>
              </a:pathLst>
            </a:custGeom>
            <a:noFill/>
            <a:ln w="12700" cap="rnd">
              <a:solidFill>
                <a:srgbClr val="2EE9FF">
                  <a:alpha val="75000"/>
                </a:srgbClr>
              </a:solidFill>
              <a:round/>
            </a:ln>
            <a:effectLst>
              <a:outerShdw blurRad="3048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Eye Iris"/>
            <p:cNvSpPr/>
            <p:nvPr/>
          </p:nvSpPr>
          <p:spPr>
            <a:xfrm>
              <a:off x="917956" y="6310408"/>
              <a:ext cx="94488" cy="94488"/>
            </a:xfrm>
            <a:prstGeom prst="ellipse">
              <a:avLst/>
            </a:prstGeom>
            <a:solidFill>
              <a:srgbClr val="2EE9FF">
                <a:alpha val="9000"/>
              </a:srgbClr>
            </a:solidFill>
            <a:ln w="12700">
              <a:solidFill>
                <a:srgbClr val="2EE9FF">
                  <a:alpha val="75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Eye Pupil"/>
            <p:cNvSpPr/>
            <p:nvPr/>
          </p:nvSpPr>
          <p:spPr>
            <a:xfrm>
              <a:off x="945388" y="6337840"/>
              <a:ext cx="39624" cy="39624"/>
            </a:xfrm>
            <a:prstGeom prst="ellipse">
              <a:avLst/>
            </a:prstGeom>
            <a:solidFill>
              <a:srgbClr val="2EE9FF">
                <a:alpha val="75000"/>
              </a:srgbClr>
            </a:solidFill>
            <a:ln>
              <a:noFill/>
            </a:ln>
            <a:effectLst>
              <a:outerShdw blurRad="381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0" name="SENTINEL Ey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cxnSp>
          <p:nvCxnSpPr>
            <p:cNvPr id="324" name="Eye HUD 0"/>
            <p:cNvCxnSpPr/>
            <p:nvPr/>
          </p:nvCxnSpPr>
          <p:spPr>
            <a:xfrm>
              <a:off x="4983480" y="4140200"/>
              <a:ext cx="274320" cy="0"/>
            </a:xfrm>
            <a:prstGeom prst="line">
              <a:avLst/>
            </a:prstGeom>
            <a:ln w="9525">
              <a:solidFill>
                <a:srgbClr val="2EE9FF">
                  <a:alpha val="45000"/>
                </a:srgbClr>
              </a:solidFill>
              <a:prstDash val="dash"/>
            </a:ln>
          </p:spPr>
        </p:cxnSp>
        <p:cxnSp>
          <p:nvCxnSpPr>
            <p:cNvPr id="325" name="Eye HUD 1"/>
            <p:cNvCxnSpPr/>
            <p:nvPr/>
          </p:nvCxnSpPr>
          <p:spPr>
            <a:xfrm>
              <a:off x="6934200" y="4140200"/>
              <a:ext cx="274320" cy="0"/>
            </a:xfrm>
            <a:prstGeom prst="line">
              <a:avLst/>
            </a:prstGeom>
            <a:ln w="9525">
              <a:solidFill>
                <a:srgbClr val="2EE9FF">
                  <a:alpha val="45000"/>
                </a:srgbClr>
              </a:solidFill>
              <a:prstDash val="dash"/>
            </a:ln>
          </p:spPr>
        </p:cxnSp>
        <p:sp>
          <p:nvSpPr>
            <p:cNvPr id="326" name="Eye Scan Ring"/>
            <p:cNvSpPr/>
            <p:nvPr/>
          </p:nvSpPr>
          <p:spPr>
            <a:xfrm>
              <a:off x="5623560" y="3667760"/>
              <a:ext cx="944880" cy="944880"/>
            </a:xfrm>
            <a:prstGeom prst="ellipse">
              <a:avLst/>
            </a:prstGeom>
            <a:noFill/>
            <a:ln w="9525">
              <a:solidFill>
                <a:srgbClr val="2EE9FF">
                  <a:alpha val="22000"/>
                </a:srgbClr>
              </a:solidFill>
              <a:prstDash val="sysDot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Eye Outline"/>
            <p:cNvSpPr/>
            <p:nvPr/>
          </p:nvSpPr>
          <p:spPr>
            <a:xfrm>
              <a:off x="5334000" y="3759200"/>
              <a:ext cx="1524000" cy="762000"/>
            </a:xfrm>
            <a:custGeom>
              <a:avLst/>
              <a:gdLst/>
              <a:ahLst/>
              <a:cxnLst/>
              <a:rect l="0" t="0" r="r" b="b"/>
              <a:pathLst>
                <a:path w="1524000" h="762000">
                  <a:moveTo>
                    <a:pt x="0" y="381000"/>
                  </a:moveTo>
                  <a:cubicBezTo>
                    <a:pt x="457200" y="-127000"/>
                    <a:pt x="1066800" y="-127000"/>
                    <a:pt x="1524000" y="381000"/>
                  </a:cubicBezTo>
                  <a:cubicBezTo>
                    <a:pt x="1066800" y="889000"/>
                    <a:pt x="457200" y="889000"/>
                    <a:pt x="0" y="381000"/>
                  </a:cubicBezTo>
                  <a:close/>
                </a:path>
              </a:pathLst>
            </a:custGeom>
            <a:noFill/>
            <a:ln w="22225" cap="rnd">
              <a:solidFill>
                <a:srgbClr val="2EE9FF">
                  <a:alpha val="100000"/>
                </a:srgbClr>
              </a:solidFill>
              <a:round/>
            </a:ln>
            <a:effectLst>
              <a:outerShdw blurRad="152400" algn="ctr" rotWithShape="0">
                <a:srgbClr val="2EE9FF">
                  <a:alpha val="4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Eye Iris"/>
            <p:cNvSpPr/>
            <p:nvPr/>
          </p:nvSpPr>
          <p:spPr>
            <a:xfrm>
              <a:off x="5859780" y="3903980"/>
              <a:ext cx="472440" cy="472440"/>
            </a:xfrm>
            <a:prstGeom prst="ellipse">
              <a:avLst/>
            </a:prstGeom>
            <a:solidFill>
              <a:srgbClr val="2EE9FF">
                <a:alpha val="12000"/>
              </a:srgbClr>
            </a:solidFill>
            <a:ln w="22225">
              <a:solidFill>
                <a:srgbClr val="2EE9FF">
                  <a:alpha val="100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Eye Pupil"/>
            <p:cNvSpPr/>
            <p:nvPr/>
          </p:nvSpPr>
          <p:spPr>
            <a:xfrm>
              <a:off x="5996940" y="4041140"/>
              <a:ext cx="198120" cy="198120"/>
            </a:xfrm>
            <a:prstGeom prst="ellipse">
              <a:avLst/>
            </a:prstGeom>
            <a:solidFill>
              <a:srgbClr val="2EE9FF">
                <a:alpha val="100000"/>
              </a:srgbClr>
            </a:solidFill>
            <a:ln>
              <a:noFill/>
            </a:ln>
            <a:effectLst>
              <a:outerShdw blurRad="190500" algn="ctr" rotWithShape="0">
                <a:srgbClr val="2EE9FF">
                  <a:alpha val="9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797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C9DA70F-222E-514B-888A-FB0BCEF4471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5e8c5978-e0f4-4ed8-bf94-09a15ba8f7b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1241</Words>
  <Application>Microsoft Macintosh PowerPoint</Application>
  <PresentationFormat>ワイド画面</PresentationFormat>
  <Paragraphs>271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JetBrains Mono</vt:lpstr>
      <vt:lpstr>Rubik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</dc:title>
  <dc:subject>PptxGenJS Presentation</dc:subject>
  <dc:creator>PptxGenJS</dc:creator>
  <cp:lastModifiedBy>Nakayama Hitoshi</cp:lastModifiedBy>
  <cp:revision>2</cp:revision>
  <dcterms:created xsi:type="dcterms:W3CDTF">2026-09-24T22:54:21Z</dcterms:created>
  <dcterms:modified xsi:type="dcterms:W3CDTF">2026-09-24T23:59:42Z</dcterms:modified>
</cp:coreProperties>
</file>